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</a:defRPr>
            </a:pPr>
            <a:r>
              <a:t>Ideal Living x Amazon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9900"/>
                </a:solidFill>
              </a:defRPr>
            </a:pPr>
            <a:r>
              <a:t>2025 Full Year Performance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6B7B8D"/>
                </a:solidFill>
              </a:defRPr>
            </a:pPr>
            <a:r>
              <a:t>Brand vs Non-Brand  |  Ad-Driven vs Organic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B7B8D"/>
                </a:solidFill>
              </a:defRPr>
            </a:pPr>
            <a:r>
              <a:t>Combining Sales Performance &amp; Weekly Ad Spend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6B7B8D"/>
                </a:solidFill>
              </a:defRPr>
            </a:pPr>
            <a:r>
              <a:t>Full Year 2025 (53 Weeks)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7EB5"/>
                </a:solidFill>
              </a:defRPr>
            </a:pPr>
            <a:r>
              <a:t>AMAZON SPONSORED 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Overall Performance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3200400"/>
              </a:tblGrid>
              <a:tr h="3556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Total Revenue (All Sources)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$3,193,483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Across 10 brands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Total Units Sold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52,865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47,782 orders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Ad-Driven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$991,694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31.1% of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Organic Revenue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$2,201,141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68.9% of total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Total Ad 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$426,781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TACoS: 13.4%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Overall ROAS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2.32x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$2.32 ad rev per $1 spend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Sessions /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240,967 / 19.8%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Avg 4,381/wk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44,708,551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Avg 812,883/wk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Full year: $3,193,483 total revenue, 52,865 units across 55 weeks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Organic revenue (68.9%) far exceeds ad-driven (31.1%) — strong brand equity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ROAS of 2.32x at 13.4% TACoS — efficient ad investment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Avg weekly revenue: $58,063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BRAND vs NON-BRAND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Brand vs Non-Brand — Total Ad Performance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7406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1645920"/>
                <a:gridCol w="1645920"/>
                <a:gridCol w="1097280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Non-Brand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 Brand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$759,591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$201,549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$961,139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$231,625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$187,328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$418,954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55.3%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Units Sold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11,202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14,342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3.28x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1.08x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2.29x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CPO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$20.68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$59.66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$29.21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Brand campaigns drive 79.0% of ad revenue on 55.3% of spend — highly efficient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Brand ROAS (3.28x) is 3.0x higher than Non-Brand (1.08x)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Non-Brand ACoS (92.9%) is unprofitable at aggregate level — needs optimization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Brand spend is defensive (protecting existing customers), NB is offensive (acquiring new ones)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BRAND vs NON-BRAND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Brand vs Non-Brand — By Product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" y="1005840"/>
          <a:ext cx="81381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22960"/>
                <a:gridCol w="822960"/>
                <a:gridCol w="731520"/>
                <a:gridCol w="731520"/>
                <a:gridCol w="822960"/>
                <a:gridCol w="822960"/>
                <a:gridCol w="731520"/>
                <a:gridCol w="73152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 Rev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 Spend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 ROAS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 ACoS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NB Rev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NB Spend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NB ROAS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NB ACoS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 Brand Rev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Prosvent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$458,983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$155,572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2.95x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$91,590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$84,246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1.09x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Better Bladder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$134,490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$29,885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4.50x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22.2%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$60,422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$50,207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1.20x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83.1%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69.0%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Ideal Prostate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$150,671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$40,266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3.74x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$32,892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$38,013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0.87x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GASF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$5,289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$1,344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3.93x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25.4%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$8,463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$2,915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2.90x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34.4%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38.5%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Cebria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$3,402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$3,009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1.13x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$4,356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1.15x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AromaTru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$4,248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$807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5.26x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19.0%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$2,617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$4,673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0.56x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178.6%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61.9%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Profemin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$1,758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13.64x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$1,209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$3,305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0.37x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273.4%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BeFlexible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$690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$601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1.15x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87.1%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$144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0.00x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Perfect Omega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$59.90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$12.64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4.74x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0.00x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9377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Prosvent: 83% brand revenue at 2.95x ROAS — strong brand loyalty drives returns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Ideal Prostate: 82% brand with 3.74x ROAS — brand campaigns highly efficient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GASF is unique: 62% non-brand revenue with strong 2.90x NB ROAS — category demand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Profemin brand ROAS of 13.64x (tiny spend) vs NB 0.37x — NB campaigns need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BRAND vs NON-BRAND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Weekly Trends — Brand vs Non-Brand Revenue</a:t>
            </a:r>
          </a:p>
        </p:txBody>
      </p:sp>
      <p:pic>
        <p:nvPicPr>
          <p:cNvPr id="5" name="Picture 4" descr="bnb_r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120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Brand revenue avg $14,052/wk vs Non-Brand avg $3,719/wk — 3.8x ratio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Brand revenue declined from ~$19K/wk (Q1) to ~$12K/wk (Q4) — seasonal pattern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Non-Brand revenue remained relatively flat ($3-5K/wk) throughout the year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Gap between Brand and Non-Brand narrowed in Q4 as Brand seasonal demand softened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BRAND vs NON-BRAND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Weekly Trends — Brand vs Non-Brand Ad Spend</a:t>
            </a:r>
          </a:p>
        </p:txBody>
      </p:sp>
      <p:pic>
        <p:nvPicPr>
          <p:cNvPr id="5" name="Picture 4" descr="bnb_sp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120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Brand spend: 55.3% of total ($231,625), NB: 44.7% ($187,328)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Both Brand and NB spend remained relatively stable week-to-week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Brand spend slightly increased in Q4 (W39-48) while returns decreased — watch efficiency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NB spend consistent at $2.5-4.5K/wk — opportunity to optimize or reallocate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BRAND vs NON-BRAND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Weekly Trends — Brand vs Non-Brand ROAS</a:t>
            </a:r>
          </a:p>
        </p:txBody>
      </p:sp>
      <p:pic>
        <p:nvPicPr>
          <p:cNvPr id="5" name="Picture 4" descr="bnb_ro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120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Brand ROAS avg 3.30x — consistently profitable, range 2.2x to 4.4x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Non-Brand ROAS avg 1.07x — hovering near breakeven, frequently below 1.0x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Brand ROAS declined from ~4.0x (Q1) to ~2.5x (Q4) — still profitable but declining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Non-Brand rarely exceeds 1.4x — structural challenge requiring keyword optimization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BRAND vs NON-BRAND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Revenue &amp; Spend Split — Brand vs Non-Brand</a:t>
            </a:r>
          </a:p>
        </p:txBody>
      </p:sp>
      <p:pic>
        <p:nvPicPr>
          <p:cNvPr id="5" name="Picture 4" descr="pie_bnb_r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114800" cy="3657600"/>
          </a:xfrm>
          <a:prstGeom prst="rect">
            <a:avLst/>
          </a:prstGeom>
        </p:spPr>
      </p:pic>
      <p:pic>
        <p:nvPicPr>
          <p:cNvPr id="6" name="Picture 5" descr="pie_bnb_sp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14400"/>
            <a:ext cx="41148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Brand captures 79.0% of ad revenue using 55.3% of spend — 3x efficiency advantage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Non-Brand consumes 44.7% of spend but generates only 21.0% of revenue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Rebalancing even 10% of NB spend to Brand could yield significant ROI improvement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However, NB campaigns serve a customer acquisition role beyond immediate ROAS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Performance by Brand — Total Sales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05840"/>
          <a:ext cx="79552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05840"/>
                <a:gridCol w="731520"/>
                <a:gridCol w="914400"/>
                <a:gridCol w="914400"/>
                <a:gridCol w="1005840"/>
                <a:gridCol w="731520"/>
                <a:gridCol w="73152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Ad Sales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Organic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 Organic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TACoS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Prosvent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$1,777,284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29,956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$244,591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$565,908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$1,211,376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2.31x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Better Bladder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$658,094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9,956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$80,854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$200,815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$457,279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69.5%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2.48x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12.3%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Ideal Prostate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$600,771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9,369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$80,198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$192,396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$408,375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2.40x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Cebria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$53,253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1,451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$6,868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$8,526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$44,727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84.0%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1.24x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Grown American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$44,158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1,052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$4,222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$12,983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$31,105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3.08x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Profemin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$28,904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528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$3,609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$3,187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$25,717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89.0%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0.88x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12.5%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BeFlexible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$17,597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$16,418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1.00x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AromaTru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$12,614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274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$5,709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$7,129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$5,396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42.8%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1.25x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45.3%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Perfect Omega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$43.89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$59.90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1.36x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Total portfolio: $3,193,483 revenue — 68.9% organic, 31.1% ad-driven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Prosvent dominates at $1,777,284 (55.7%)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Ad spend data ($418,954) reconciles with performance report ($426,781)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Strong organic base across all major brands reduces dependency on paid channels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Weekly Revenue Trends — Total, Ad &amp; Organic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Revenue declined ~30% from Q1 to Q4 — consistent seasonal pattern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Organic revenue tracked total revenue decline, not just ad-driven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Ad revenue remained more stable as a percentage of total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Revenue floor appears around $45-50K/wk in lowest weeks</a:t>
            </a:r>
          </a:p>
        </p:txBody>
      </p:sp>
      <p:pic>
        <p:nvPicPr>
          <p:cNvPr id="7" name="Picture 6" descr="s10_fix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Quarterly Brand vs Non-Brand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0584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05840"/>
                <a:gridCol w="914400"/>
                <a:gridCol w="731520"/>
                <a:gridCol w="1005840"/>
                <a:gridCol w="914400"/>
                <a:gridCol w="731520"/>
                <a:gridCol w="100584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Quarter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 Rev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 Spend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 ROAS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NB Rev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NB Spend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NB ROAS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Total Rev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 Brand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$208,056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$56,952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3.65x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$61,160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$55,878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1.09x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$269,216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$181,101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$55,030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3.29x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$49,681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$46,370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1.07x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$230,782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78.5%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$177,537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$51,570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3.44x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$40,871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$37,880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1.08x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$218,409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$178,061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$64,892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2.74x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$45,382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$44,348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1.02x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$223,443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79.7%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q_b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17520"/>
            <a:ext cx="822960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303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Brand ROAS declined from Q1 (3.65x) to Q4 (2.74x)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Non-Brand ROAS stayed near breakeven (~1.0-1.1x) across all quarters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Q1 Brand revenue was 32% higher than Q4 — seasonal demand decline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Non-Brand revenue remarkably stable across quarters (~$13-14K/quarter)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BRAND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Prosvent — Brand vs Non-Brand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4023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Non-Brand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$458,983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$91,590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$550,573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$155,572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$84,246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$239,817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6,906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1,449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8,355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2.95x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1.09x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2.30x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92.0%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CPO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$22.53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$58.14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% of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dd_Pros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411480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Brand campaigns generate 83.4% of revenue at 2.95x ROAS — core strength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Non-Brand ACoS of 92.0% is unprofitable — review NB keyword portfolio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Brand CPO ($22.53) is well below breakeven threshold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Consider shifting 15-20% of NB budget to Brand for immediate ROI improvement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BRAND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Better Bladder — Brand vs Non-Brand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4023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Non-Brand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$134,490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$60,422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$194,912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$29,885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$50,207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$80,092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1,886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2,752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4.50x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1.20x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2.43x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CPO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$15.85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$57.98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% of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69.0%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dd_Better B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411480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Brand ROAS of 4.50x is the highest among top-3 products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Non-Brand drives 31.0% of revenue but at 83.1% ACoS — near breakeven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Strong candidate for NB keyword optimization — some terms likely profitable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Test increasing Brand bid aggressiveness during peak conversion hours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BRAND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Ideal Prostate — Brand vs Non-Brand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4023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Non-Brand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232F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$150,671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$32,892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$183,563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 Spend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$40,266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$38,013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$78,278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2,122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2,584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3.74x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0.87x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2.35x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115.6%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42.6%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CPO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$18.98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$82.28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% of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82.1%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dd_Ideal Pro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411480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Highest Brand revenue concentration (82.1%) among top products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Non-Brand ROAS of 0.87x is below breakeven — NB campaigns losing money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Cross-sell opportunity: target Prosvent buyers with Ideal Prostate ads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Focus NB spend on top-converting generic terms only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BRAND vs NON-BRAND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ACoS Analysis — Brand vs Non-Brand by Product</a:t>
            </a:r>
          </a:p>
        </p:txBody>
      </p:sp>
      <p:pic>
        <p:nvPicPr>
          <p:cNvPr id="5" name="Picture 4" descr="aco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120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Takeaways: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Brand ACoS is below breakeven (100%) for all products — profitable across the board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Non-Brand ACoS exceeds breakeven for Ideal Prostate (116%), Profemin, and AromaTru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Prosvent NB ACoS of 92% is near breakeven — some NB keywords likely profitable, others not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4A4A5A"/>
                </a:solidFill>
              </a:rPr>
              <a:t>• GASF is the standout: both Brand (25%) and NB (34%) ACoS well below breakeven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900"/>
                </a:solidFill>
              </a:defRPr>
            </a:pPr>
            <a:r>
              <a:t>2025 FULL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1A2E"/>
                </a:solidFill>
              </a:defRPr>
            </a:pPr>
            <a:r>
              <a:t>2026 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▸ Protect Brand Revenue — It's Your Profit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A4A5A"/>
                </a:solidFill>
              </a:rPr>
              <a:t>Brand campaigns generate 79.0% of ad revenue at 3.3x ROAS. Maintain and grow branded keyword coverage. Any competitor conquesting your brand terms will directly erode this high-margin revenue.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1051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▸ Aggressively Optimize Non-Brand Campaigns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39112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A4A5A"/>
                </a:solidFill>
              </a:rPr>
              <a:t>Non-Brand ACoS of 92.9% is unsustainable. Audit search term reports weekly, pause non-converting terms, and focus NB spend on proven category keywords. Target &lt;60% ACoS for NB campaigns.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15184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▸ Reallocate Budget: Shift NB→Brand Where Possible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43784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A4A5A"/>
                </a:solidFill>
              </a:rPr>
              <a:t>Moving 15-20% of NB budget ($28,099-$37,466) to Brand could generate an additional $92,149-$122,865 in revenue at current Brand ROAS.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19856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▸ Address Q1→Q4 Revenue Decline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48456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A4A5A"/>
                </a:solidFill>
              </a:rPr>
              <a:t>Revenue dropped ~30% through the year. Deploy seasonal promotions, Subscribe &amp; Save pushes, and targeted deal events in Q3/Q4 to counter natural demand softening.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2452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▸ Scale GASF Non-Brand — Unique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5312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A4A5A"/>
                </a:solidFill>
              </a:rPr>
              <a:t>GASF is the only product with strong NB ROAS (2.9x). Increase NB spend for GASF to capture more category demand profitably.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9900"/>
                </a:solidFill>
              </a:rPr>
              <a:t>▸ Invest in Organic Growth to Reduce Ad Dependency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4A4A5A"/>
                </a:solidFill>
              </a:rPr>
              <a:t>Organic revenue (68.9%) is the foundation. Invest in A+ Content, review generation, and Subscribe &amp; Save to grow organic and further reduce TACoS.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0000"/>
            <a:ext cx="8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Calibri"/>
              </a:defRPr>
            </a:pPr>
            <a:r>
              <a:t>PROMOTIONS &amp; COUPONS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70000"/>
            <a:ext cx="8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2025 Promotional Calendar Overview</a:t>
            </a:r>
          </a:p>
        </p:txBody>
      </p:sp>
      <p:pic>
        <p:nvPicPr>
          <p:cNvPr id="5" name="Picture 4" descr="s17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70000"/>
            <a:ext cx="8229600" cy="3400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400000"/>
            <a:ext cx="2600000" cy="85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200" y="448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F4444"/>
                </a:solidFill>
                <a:latin typeface="Calibri"/>
              </a:defRPr>
            </a:pPr>
            <a:r>
              <a:t>39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200" y="487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with zero supplement</a:t>
            </a:r>
            <a:br/>
            <a:r>
              <a:t>promotions (Jan–Sep)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07200" y="4400000"/>
            <a:ext cx="2600000" cy="85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7200" y="448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900"/>
                </a:solidFill>
                <a:latin typeface="Calibri"/>
              </a:defRPr>
            </a:pPr>
            <a:r>
              <a:t>3 Promo 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7200" y="487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all concentrated in</a:t>
            </a:r>
            <a:br/>
            <a:r>
              <a:t>Q4 (Oct–Dec only)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7200" y="4400000"/>
            <a:ext cx="2600000" cy="85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7200" y="448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1CE"/>
                </a:solidFill>
                <a:latin typeface="Calibri"/>
              </a:defRPr>
            </a:pPr>
            <a:r>
              <a:t>40% Max Discount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7200" y="4870000"/>
            <a:ext cx="2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during Black Friday /</a:t>
            </a:r>
            <a:br/>
            <a:r>
              <a:t>Cyber Monday week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450000"/>
            <a:ext cx="8229600" cy="55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000" y="5500000"/>
            <a:ext cx="8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  Supplement brands missed 39 weeks of potential promotional lift — consider spreading promos across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000" y="5730000"/>
            <a:ext cx="8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  AromaTru ran 5 promo windows year-round — a model worth applying to supplement brands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0000"/>
            <a:ext cx="8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Calibri"/>
              </a:defRPr>
            </a:pPr>
            <a:r>
              <a:t>PROMOTIONS &amp; COUPONS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70000"/>
            <a:ext cx="8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Coupon Performance — Fall 2025 Prime Day</a:t>
            </a:r>
          </a:p>
        </p:txBody>
      </p:sp>
      <p:pic>
        <p:nvPicPr>
          <p:cNvPr id="5" name="Picture 4" descr="s18_coup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80000"/>
            <a:ext cx="8229600" cy="3100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100000"/>
            <a:ext cx="2600000" cy="6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200" y="4160000"/>
            <a:ext cx="2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900"/>
                </a:solidFill>
                <a:latin typeface="Calibri"/>
              </a:defRPr>
            </a:pPr>
            <a:r>
              <a:t>$1,331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200" y="4460000"/>
            <a:ext cx="2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Total Coupon 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07200" y="4100000"/>
            <a:ext cx="2600000" cy="6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7200" y="4160000"/>
            <a:ext cx="2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Calibri"/>
              </a:defRPr>
            </a:pPr>
            <a:r>
              <a:t>2.07x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7200" y="4460000"/>
            <a:ext cx="2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Return on Budget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7200" y="4100000"/>
            <a:ext cx="2600000" cy="6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7200" y="4160000"/>
            <a:ext cx="2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71CE"/>
                </a:solidFill>
                <a:latin typeface="Calibri"/>
              </a:defRPr>
            </a:pPr>
            <a:r>
              <a:t>$643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7200" y="4460000"/>
            <a:ext cx="24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Total Budget Spent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50000"/>
            <a:ext cx="8229600" cy="75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000" y="4900000"/>
            <a:ext cx="8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  Prosvent drove 57% of all coupon sales — strongest brand loyalty and coupon engagement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000" y="5130000"/>
            <a:ext cx="8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  AromaTru's first-ever coupon delivered $204 on just $36 budget — strongest ROI in portfolio (5.7x)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000" y="5360000"/>
            <a:ext cx="8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  Opportunity to scale coupon programs with larger budgets and broader product coverage in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0000"/>
            <a:ext cx="8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Calibri"/>
              </a:defRPr>
            </a:pPr>
            <a:r>
              <a:t>PROMOTIONS &amp; COUPONS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70000"/>
            <a:ext cx="8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Promo Windows vs Weekly Ad Revenue</a:t>
            </a:r>
          </a:p>
        </p:txBody>
      </p:sp>
      <p:pic>
        <p:nvPicPr>
          <p:cNvPr id="5" name="Picture 4" descr="promo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80000"/>
            <a:ext cx="8229600" cy="3600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650000"/>
            <a:ext cx="8229600" cy="7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0000" y="4700000"/>
            <a:ext cx="8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  Q4 promos didn't reverse the natural seasonal revenue decline — ad revenue still fell despite 35–40% discounts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000" y="4910000"/>
            <a:ext cx="8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  H1 generated higher revenue with zero promotions — organic demand was stronger in the first half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000" y="5120000"/>
            <a:ext cx="8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  Promo-driven lift was modest; the bigger opportunity is spreading promotions into H1 to sustain momentum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0000"/>
            <a:ext cx="80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900"/>
                </a:solidFill>
                <a:latin typeface="Calibri"/>
              </a:defRPr>
            </a:pPr>
            <a:r>
              <a:t>PROMOTIONS &amp; COUPONS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70000"/>
            <a:ext cx="8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2026 Promotional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50000"/>
            <a:ext cx="8229600" cy="6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50000"/>
            <a:ext cx="60000" cy="680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200" y="1010000"/>
            <a:ext cx="7979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Spread Promos Across the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200" y="1310000"/>
            <a:ext cx="797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39 weeks without promotions is a missed opportunity. Run 15–20% coupons during Big Spring Sale, Memorial Day, and Summer Prime to sustain revenue in H1.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00000"/>
            <a:ext cx="8229600" cy="6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00000"/>
            <a:ext cx="60000" cy="68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200" y="1760000"/>
            <a:ext cx="7979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Revert Better Bladder to Flat Dollar-Off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200" y="2060000"/>
            <a:ext cx="797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The 35% S&amp;S coupon caused a -69% sales drop. Better Bladder's $40–$60 price point responds better to tangible "Save $15" offers than percentage discounts.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50000"/>
            <a:ext cx="8229600" cy="6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450000"/>
            <a:ext cx="60000" cy="68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200" y="2510000"/>
            <a:ext cx="7979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Scale AromaTru Coupon Campaigns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200" y="2810000"/>
            <a:ext cx="797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AromaTru's first coupon delivered 5.7x ROI on minimal spend. Increase budget and run coupons alongside its existing year-round promotional cadence.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00000"/>
            <a:ext cx="8229600" cy="6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00000"/>
            <a:ext cx="60000" cy="68000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200" y="3260000"/>
            <a:ext cx="7979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Avoid Deep Discount Stacking in 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200" y="3560000"/>
            <a:ext cx="7979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Running 35% → 15% → 40% in rapid succession may train shoppers to wait for the deepest cut. Consider a steadier 20–25% discount throughout Q4 instead.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