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z+y7VRKQNRC6mdNiBLuyTqHuf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2BCC13-8DF8-4D87-8EF2-63098333819B}">
  <a:tblStyle styleId="{1E2BCC13-8DF8-4D87-8EF2-6309833381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AirDoctor</c:v>
                </c:pt>
                <c:pt idx="1">
                  <c:v>AquaTru</c:v>
                </c:pt>
                <c:pt idx="2">
                  <c:v>Ionic Pro</c:v>
                </c:pt>
                <c:pt idx="3">
                  <c:v>Prosvent</c:v>
                </c:pt>
                <c:pt idx="4">
                  <c:v>WalkFit</c:v>
                </c:pt>
                <c:pt idx="5">
                  <c:v>Better Bladder</c:v>
                </c:pt>
                <c:pt idx="6">
                  <c:v>Ideal Prostate</c:v>
                </c:pt>
                <c:pt idx="7">
                  <c:v>Superthotics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83716.19</c:v>
                </c:pt>
                <c:pt idx="1">
                  <c:v>69368.55</c:v>
                </c:pt>
                <c:pt idx="2">
                  <c:v>20756.059999999998</c:v>
                </c:pt>
                <c:pt idx="3">
                  <c:v>17327.63</c:v>
                </c:pt>
                <c:pt idx="4">
                  <c:v>12836.150000000001</c:v>
                </c:pt>
                <c:pt idx="5">
                  <c:v>9673.42</c:v>
                </c:pt>
                <c:pt idx="6">
                  <c:v>7043.62</c:v>
                </c:pt>
                <c:pt idx="7">
                  <c:v>4596.36</c:v>
                </c:pt>
                <c:pt idx="8">
                  <c:v>10787.8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AirDoctor</c:v>
                </c:pt>
                <c:pt idx="1">
                  <c:v>AquaTru</c:v>
                </c:pt>
                <c:pt idx="2">
                  <c:v>Prosvent</c:v>
                </c:pt>
                <c:pt idx="3">
                  <c:v>WalkFit</c:v>
                </c:pt>
                <c:pt idx="4">
                  <c:v>Better Bladder</c:v>
                </c:pt>
                <c:pt idx="5">
                  <c:v>Ionic Pro</c:v>
                </c:pt>
                <c:pt idx="6">
                  <c:v>Miracle Blade</c:v>
                </c:pt>
                <c:pt idx="7">
                  <c:v>Ideal Prostate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35446.29</c:v>
                </c:pt>
                <c:pt idx="1">
                  <c:v>17541.45</c:v>
                </c:pt>
                <c:pt idx="2">
                  <c:v>7383.83</c:v>
                </c:pt>
                <c:pt idx="3">
                  <c:v>6079.3099999999995</c:v>
                </c:pt>
                <c:pt idx="4">
                  <c:v>6075.0199999999995</c:v>
                </c:pt>
                <c:pt idx="5">
                  <c:v>4235.24</c:v>
                </c:pt>
                <c:pt idx="6">
                  <c:v>3861.0299999999997</c:v>
                </c:pt>
                <c:pt idx="7">
                  <c:v>3761.3399999999997</c:v>
                </c:pt>
                <c:pt idx="8">
                  <c:v>8354.31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1280160"/>
            <a:ext cx="91440" cy="1828800"/>
          </a:xfrm>
          <a:prstGeom prst="rect">
            <a:avLst/>
          </a:prstGeom>
          <a:solidFill>
            <a:srgbClr val="6600C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47472" y="749808"/>
            <a:ext cx="55961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Ideal Living x Walmart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347472" y="1508760"/>
            <a:ext cx="5596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Full Year Overview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57200" y="2286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Walmart Search  |  Brand vs Non-Brand Analysis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5029200" y="274320"/>
            <a:ext cx="3840480" cy="4389120"/>
          </a:xfrm>
          <a:prstGeom prst="rect">
            <a:avLst/>
          </a:prstGeom>
          <a:solidFill>
            <a:srgbClr val="0071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303520" y="137160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WALMART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5303520" y="3200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Full Year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Performance and Review - Total</a:t>
            </a:r>
            <a:endParaRPr/>
          </a:p>
        </p:txBody>
      </p:sp>
      <p:graphicFrame>
        <p:nvGraphicFramePr>
          <p:cNvPr id="98" name="Google Shape;98;p2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{1E2BCC13-8DF8-4D87-8EF2-63098333819B}</a:tableStyleId>
              </a:tblPr>
              <a:tblGrid>
                <a:gridCol w="1645925"/>
                <a:gridCol w="1645925"/>
                <a:gridCol w="1645925"/>
                <a:gridCol w="1645925"/>
                <a:gridCol w="164592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44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44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Non-Brand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44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44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Brand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4466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Units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1,099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1,075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2,174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50.6%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Revenue ($)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$131,718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$104,388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$236,106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55.8%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Ad Spend ($)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$13,202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$79,536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$92,738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F8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ROAS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$9.98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$1.31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$2.55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2"/>
          <p:cNvSpPr txBox="1"/>
          <p:nvPr/>
        </p:nvSpPr>
        <p:spPr>
          <a:xfrm>
            <a:off x="457200" y="3200400"/>
            <a:ext cx="82296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Takeaways: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Total portfolio: 2,174 units, $236,106 revenue from $92,738 ad spend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Brand spend = 14% of total vs 86% Non-Brand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Brand ROAS ($9.98) significantly higher than Non-Brand ($1.31)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Brand campaigns drove 55.8% of total revenue, Non-Brand drove 44.2%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Performance - Brand vs Non-Brand by Product Line</a:t>
            </a:r>
            <a:endParaRPr/>
          </a:p>
        </p:txBody>
      </p:sp>
      <p:pic>
        <p:nvPicPr>
          <p:cNvPr descr="chart_slide3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505" y="914400"/>
            <a:ext cx="8028988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457200" y="3749039"/>
            <a:ext cx="82296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Takeaways: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AirDoctor was the top revenue brand at $83,716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Several brands (Miracle Blade, Grown American) had nearly 100% Non-Brand revenue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AquaTru showed strong Non-Brand revenue, suggesting effective NB keyword targeting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Performance - Brand vs Non-Brand Detail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182880" y="8961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Branded</a:t>
            </a:r>
            <a:endParaRPr/>
          </a:p>
        </p:txBody>
      </p:sp>
      <p:graphicFrame>
        <p:nvGraphicFramePr>
          <p:cNvPr id="115" name="Google Shape;115;p4"/>
          <p:cNvGraphicFramePr/>
          <p:nvPr/>
        </p:nvGraphicFramePr>
        <p:xfrm>
          <a:off x="18288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{1E2BCC13-8DF8-4D87-8EF2-63098333819B}</a:tableStyleId>
              </a:tblPr>
              <a:tblGrid>
                <a:gridCol w="1074425"/>
                <a:gridCol w="1074425"/>
                <a:gridCol w="1074425"/>
                <a:gridCol w="10744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 Spend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AirDoctor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288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$62,278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$5,391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AquaTru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239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$31,798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$2,016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Prosvent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$14,837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$4,318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Ionic Pro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$5,767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$169.54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Ideal Prostate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$5,153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$493.95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Better Bladder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$4,271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$293.20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WalkFit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$3,296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$201.37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Rotorazer Saw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$1,907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$84.89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6" name="Google Shape;116;p4"/>
          <p:cNvSpPr txBox="1"/>
          <p:nvPr/>
        </p:nvSpPr>
        <p:spPr>
          <a:xfrm>
            <a:off x="4663440" y="8961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Non-Branded</a:t>
            </a:r>
            <a:endParaRPr/>
          </a:p>
        </p:txBody>
      </p:sp>
      <p:graphicFrame>
        <p:nvGraphicFramePr>
          <p:cNvPr id="117" name="Google Shape;117;p4"/>
          <p:cNvGraphicFramePr/>
          <p:nvPr/>
        </p:nvGraphicFramePr>
        <p:xfrm>
          <a:off x="466344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{1E2BCC13-8DF8-4D87-8EF2-63098333819B}</a:tableStyleId>
              </a:tblPr>
              <a:tblGrid>
                <a:gridCol w="1074425"/>
                <a:gridCol w="1074425"/>
                <a:gridCol w="1074425"/>
                <a:gridCol w="10744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 Spend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7D31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AquaTru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$37,570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$15,525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AirDoctor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$21,439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$30,055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Ionic Pro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$14,989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$4,066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WalkFit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$9,541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$5,878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Better Bladder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$5,402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$5,782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Miracle Blade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$3,685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$3,860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Superthotics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$3,185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$3,199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Prosvent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$2,491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$3,066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8" name="Google Shape;118;p4"/>
          <p:cNvSpPr txBox="1"/>
          <p:nvPr/>
        </p:nvSpPr>
        <p:spPr>
          <a:xfrm>
            <a:off x="457200" y="3657600"/>
            <a:ext cx="8229600" cy="1394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Takeaways: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Brand campaigns spent only $13,202 (14%) but generated $131,718 revenue (56%)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Non-Brand spent $79,536 (86%) generating $104,388 revenue (44%)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Brand ROAS $9.98 vs NB ROAS $1.31 — 7.6x difference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Weekly Trends - Revenue</a:t>
            </a:r>
            <a:endParaRPr/>
          </a:p>
        </p:txBody>
      </p:sp>
      <p:pic>
        <p:nvPicPr>
          <p:cNvPr descr="chart_slide5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092" y="914400"/>
            <a:ext cx="8015814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/>
        </p:nvSpPr>
        <p:spPr>
          <a:xfrm>
            <a:off x="457200" y="3749039"/>
            <a:ext cx="82296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Takeaways: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Peak total revenue week: 11/26 at $22,804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Brand revenue spiked in late November (BFCM) reaching $15,092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Strong Q4 seasonality across both Brand and Non-Brand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Weekly Trends - Ad Spend</a:t>
            </a:r>
            <a:endParaRPr/>
          </a:p>
        </p:txBody>
      </p:sp>
      <p:pic>
        <p:nvPicPr>
          <p:cNvPr descr="chart_slide6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092" y="914400"/>
            <a:ext cx="8015814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457200" y="3749039"/>
            <a:ext cx="82296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Takeaways: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Avg weekly Brand spend $249.09 vs NB $1,501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Non-Brand consistently ~86% of total spend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Peak week spend: $4,784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Weekly Trends - ROAS</a:t>
            </a:r>
            <a:endParaRPr/>
          </a:p>
        </p:txBody>
      </p:sp>
      <p:pic>
        <p:nvPicPr>
          <p:cNvPr descr="chart_slide7.png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092" y="914400"/>
            <a:ext cx="8015814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 txBox="1"/>
          <p:nvPr/>
        </p:nvSpPr>
        <p:spPr>
          <a:xfrm>
            <a:off x="457200" y="3749039"/>
            <a:ext cx="82296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Takeaways: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Avg weekly Brand ROAS $10.81 vs NB $1.36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Brand ROAS volatile: $1.64 to $33.61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Non-Brand ROAS more consistent, typically $1-$5 range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Revenue Distribution by Brand</a:t>
            </a:r>
            <a:endParaRPr/>
          </a:p>
        </p:txBody>
      </p:sp>
      <p:graphicFrame>
        <p:nvGraphicFramePr>
          <p:cNvPr id="149" name="Google Shape;149;p8"/>
          <p:cNvGraphicFramePr/>
          <p:nvPr/>
        </p:nvGraphicFramePr>
        <p:xfrm>
          <a:off x="274320" y="914400"/>
          <a:ext cx="4206240" cy="3200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0" name="Google Shape;150;p8"/>
          <p:cNvSpPr txBox="1"/>
          <p:nvPr/>
        </p:nvSpPr>
        <p:spPr>
          <a:xfrm>
            <a:off x="274320" y="7772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Revenue by Brand</a:t>
            </a:r>
            <a:endParaRPr/>
          </a:p>
        </p:txBody>
      </p:sp>
      <p:graphicFrame>
        <p:nvGraphicFramePr>
          <p:cNvPr id="151" name="Google Shape;151;p8"/>
          <p:cNvGraphicFramePr/>
          <p:nvPr/>
        </p:nvGraphicFramePr>
        <p:xfrm>
          <a:off x="4663440" y="914400"/>
          <a:ext cx="4206240" cy="32004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52" name="Google Shape;152;p8"/>
          <p:cNvSpPr txBox="1"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Ad Spend by Brand</a:t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457200" y="4206240"/>
            <a:ext cx="8229600" cy="845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Takeaways: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AirDoctor largest revenue share and highest NB ad spend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AquaTru and Ionic Pro showed strong NB revenue returns relative to spend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457200" y="612648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2026 Recommendations: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Brand Campaign Optimization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Continue investing in branded campaigns given higher ROAS ($9.98 vs $1.31 NB)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Expand branded keyword coverage for underrepresented brands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Non-Brand Efficiency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Review NB campaigns with negative ROAS and optimize or pause underperformers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Focus NB spend on top performers: AquaTru, Ionic Pro, WalkFit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Seasonal Strategy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Plan increased Q4 budgets given strong holiday performance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Build campaign structures earlier in Q3 for pre-holiday demand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Portfolio Expansion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Apply successful strategies from AirDoctor/AquaTru to smaller brands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Test new match types and campaign structures for mid-tier brands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Walmart Overview - Spend, Revenue &amp; ROAS</a:t>
            </a:r>
            <a:endParaRPr/>
          </a:p>
        </p:txBody>
      </p:sp>
      <p:pic>
        <p:nvPicPr>
          <p:cNvPr descr="2025_spend_revenue_.png"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394" y="914400"/>
            <a:ext cx="7203210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Branded Campaigns - Performance Summary</a:t>
            </a:r>
            <a:endParaRPr/>
          </a:p>
        </p:txBody>
      </p:sp>
      <p:pic>
        <p:nvPicPr>
          <p:cNvPr descr="branded_ads.png" id="173" name="Google Shape;1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467" y="914400"/>
            <a:ext cx="7241065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79" name="Google Shape;179;p12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Non-Branded Campaigns - Performance Summary</a:t>
            </a:r>
            <a:endParaRPr/>
          </a:p>
        </p:txBody>
      </p:sp>
      <p:pic>
        <p:nvPicPr>
          <p:cNvPr descr="unbranded_ads.png"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558" y="914400"/>
            <a:ext cx="7298883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Branded - Top Campaigns</a:t>
            </a:r>
            <a:endParaRPr/>
          </a:p>
        </p:txBody>
      </p:sp>
      <p:pic>
        <p:nvPicPr>
          <p:cNvPr descr="branded_top_campiagns.png" id="187" name="Google Shape;1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7086" y="914400"/>
            <a:ext cx="7009827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/>
        </p:nvSpPr>
        <p:spPr>
          <a:xfrm>
            <a:off x="329184" y="100584"/>
            <a:ext cx="406908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2025 YTD PERFORMANCE (Full Year)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356616" y="402336"/>
            <a:ext cx="8513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2025 Non-Branded - Top Campaigns</a:t>
            </a:r>
            <a:endParaRPr/>
          </a:p>
        </p:txBody>
      </p:sp>
      <p:pic>
        <p:nvPicPr>
          <p:cNvPr descr="unbranded_top_campiagns.png" id="194" name="Google Shape;1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300" y="811425"/>
            <a:ext cx="7053372" cy="412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