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5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7315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1A1A2E"/>
                </a:solidFill>
              </a:defRPr>
            </a:pPr>
            <a:r>
              <a:t>Ideal Living x Amazon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926080"/>
            <a:ext cx="7315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FF9900"/>
                </a:solidFill>
              </a:defRPr>
            </a:pPr>
            <a:r>
              <a:t>2025 Full Year Performance Overview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840480"/>
            <a:ext cx="7315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0">
                <a:solidFill>
                  <a:srgbClr val="6B7B8D"/>
                </a:solidFill>
              </a:defRPr>
            </a:pPr>
            <a:r>
              <a:t>Amazon Advertising  |  Ad-Driven vs Organic Analysis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5029200"/>
            <a:ext cx="7315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0">
                <a:solidFill>
                  <a:srgbClr val="6B7B8D"/>
                </a:solidFill>
              </a:defRPr>
            </a:pPr>
            <a:r>
              <a:t>Full Year 2025 (Weeks 1–53)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5669280"/>
            <a:ext cx="7315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007EB5"/>
                </a:solidFill>
              </a:defRPr>
            </a:pPr>
            <a:r>
              <a:t>AMAZON SPONSORED ADS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82296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FF9900"/>
                </a:solidFill>
              </a:defRPr>
            </a:pPr>
            <a:r>
              <a:t>2025 FULL YEAR PERFORMANCE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5720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A1A2E"/>
                </a:solidFill>
              </a:defRPr>
            </a:pPr>
            <a:r>
              <a:t>Overall Performance Summary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005840"/>
          <a:ext cx="8229600" cy="3840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286000"/>
                <a:gridCol w="3200400"/>
              </a:tblGrid>
              <a:tr h="349134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Metric</a:t>
                      </a:r>
                    </a:p>
                  </a:txBody>
                  <a:tcPr>
                    <a:solidFill>
                      <a:srgbClr val="232F3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Value</a:t>
                      </a:r>
                    </a:p>
                  </a:txBody>
                  <a:tcPr>
                    <a:solidFill>
                      <a:srgbClr val="232F3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Detail</a:t>
                      </a:r>
                    </a:p>
                  </a:txBody>
                  <a:tcPr>
                    <a:solidFill>
                      <a:srgbClr val="232F3E"/>
                    </a:solidFill>
                  </a:tcPr>
                </a:tc>
              </a:tr>
              <a:tr h="349134">
                <a:tc>
                  <a:txBody>
                    <a:bodyPr/>
                    <a:lstStyle/>
                    <a:p>
                      <a:pPr algn="l">
                        <a:defRPr sz="800">
                          <a:solidFill>
                            <a:srgbClr val="1A1A2E"/>
                          </a:solidFill>
                        </a:defRPr>
                      </a:pPr>
                      <a:r>
                        <a:t>Total Revenue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A1A2E"/>
                          </a:solidFill>
                        </a:defRPr>
                      </a:pPr>
                      <a:r>
                        <a:t>$3,193,483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A1A2E"/>
                          </a:solidFill>
                        </a:defRPr>
                      </a:pPr>
                      <a:r>
                        <a:t>Across 10 brands, 55 weeks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49134">
                <a:tc>
                  <a:txBody>
                    <a:bodyPr/>
                    <a:lstStyle/>
                    <a:p>
                      <a:pPr algn="l">
                        <a:defRPr sz="800">
                          <a:solidFill>
                            <a:srgbClr val="1A1A2E"/>
                          </a:solidFill>
                        </a:defRPr>
                      </a:pPr>
                      <a:r>
                        <a:t>Total Units Sold</a:t>
                      </a:r>
                    </a:p>
                  </a:txBody>
                  <a:tcPr>
                    <a:solidFill>
                      <a:srgbClr val="F1F3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A1A2E"/>
                          </a:solidFill>
                        </a:defRPr>
                      </a:pPr>
                      <a:r>
                        <a:t>52,865</a:t>
                      </a:r>
                    </a:p>
                  </a:txBody>
                  <a:tcPr>
                    <a:solidFill>
                      <a:srgbClr val="F1F3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A1A2E"/>
                          </a:solidFill>
                        </a:defRPr>
                      </a:pPr>
                      <a:r>
                        <a:t>47,782 orders</a:t>
                      </a:r>
                    </a:p>
                  </a:txBody>
                  <a:tcPr>
                    <a:solidFill>
                      <a:srgbClr val="F1F3F5"/>
                    </a:solidFill>
                  </a:tcPr>
                </a:tc>
              </a:tr>
              <a:tr h="349134">
                <a:tc>
                  <a:txBody>
                    <a:bodyPr/>
                    <a:lstStyle/>
                    <a:p>
                      <a:pPr algn="l">
                        <a:defRPr sz="800">
                          <a:solidFill>
                            <a:srgbClr val="1A1A2E"/>
                          </a:solidFill>
                        </a:defRPr>
                      </a:pPr>
                      <a:r>
                        <a:t>Ad-Driven Revenue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A1A2E"/>
                          </a:solidFill>
                        </a:defRPr>
                      </a:pPr>
                      <a:r>
                        <a:t>$991,694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A1A2E"/>
                          </a:solidFill>
                        </a:defRPr>
                      </a:pPr>
                      <a:r>
                        <a:t>31.1% of total revenue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49134">
                <a:tc>
                  <a:txBody>
                    <a:bodyPr/>
                    <a:lstStyle/>
                    <a:p>
                      <a:pPr algn="l">
                        <a:defRPr sz="800">
                          <a:solidFill>
                            <a:srgbClr val="1A1A2E"/>
                          </a:solidFill>
                        </a:defRPr>
                      </a:pPr>
                      <a:r>
                        <a:t>Organic Revenue</a:t>
                      </a:r>
                    </a:p>
                  </a:txBody>
                  <a:tcPr>
                    <a:solidFill>
                      <a:srgbClr val="F1F3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A1A2E"/>
                          </a:solidFill>
                        </a:defRPr>
                      </a:pPr>
                      <a:r>
                        <a:t>$2,201,141</a:t>
                      </a:r>
                    </a:p>
                  </a:txBody>
                  <a:tcPr>
                    <a:solidFill>
                      <a:srgbClr val="F1F3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A1A2E"/>
                          </a:solidFill>
                        </a:defRPr>
                      </a:pPr>
                      <a:r>
                        <a:t>68.9% of total revenue</a:t>
                      </a:r>
                    </a:p>
                  </a:txBody>
                  <a:tcPr>
                    <a:solidFill>
                      <a:srgbClr val="F1F3F5"/>
                    </a:solidFill>
                  </a:tcPr>
                </a:tc>
              </a:tr>
              <a:tr h="349134">
                <a:tc>
                  <a:txBody>
                    <a:bodyPr/>
                    <a:lstStyle/>
                    <a:p>
                      <a:pPr algn="l">
                        <a:defRPr sz="800">
                          <a:solidFill>
                            <a:srgbClr val="1A1A2E"/>
                          </a:solidFill>
                        </a:defRPr>
                      </a:pPr>
                      <a:r>
                        <a:t>Total Ad Spend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A1A2E"/>
                          </a:solidFill>
                        </a:defRPr>
                      </a:pPr>
                      <a:r>
                        <a:t>$426,781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A1A2E"/>
                          </a:solidFill>
                        </a:defRPr>
                      </a:pPr>
                      <a:r>
                        <a:t>TACoS: 13.4%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49134">
                <a:tc>
                  <a:txBody>
                    <a:bodyPr/>
                    <a:lstStyle/>
                    <a:p>
                      <a:pPr algn="l">
                        <a:defRPr sz="800">
                          <a:solidFill>
                            <a:srgbClr val="1A1A2E"/>
                          </a:solidFill>
                        </a:defRPr>
                      </a:pPr>
                      <a:r>
                        <a:t>ROAS</a:t>
                      </a:r>
                    </a:p>
                  </a:txBody>
                  <a:tcPr>
                    <a:solidFill>
                      <a:srgbClr val="F1F3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A1A2E"/>
                          </a:solidFill>
                        </a:defRPr>
                      </a:pPr>
                      <a:r>
                        <a:t>2.32x</a:t>
                      </a:r>
                    </a:p>
                  </a:txBody>
                  <a:tcPr>
                    <a:solidFill>
                      <a:srgbClr val="F1F3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A1A2E"/>
                          </a:solidFill>
                        </a:defRPr>
                      </a:pPr>
                      <a:r>
                        <a:t>$2.32 ad revenue per $1 spend</a:t>
                      </a:r>
                    </a:p>
                  </a:txBody>
                  <a:tcPr>
                    <a:solidFill>
                      <a:srgbClr val="F1F3F5"/>
                    </a:solidFill>
                  </a:tcPr>
                </a:tc>
              </a:tr>
              <a:tr h="349134">
                <a:tc>
                  <a:txBody>
                    <a:bodyPr/>
                    <a:lstStyle/>
                    <a:p>
                      <a:pPr algn="l">
                        <a:defRPr sz="800">
                          <a:solidFill>
                            <a:srgbClr val="1A1A2E"/>
                          </a:solidFill>
                        </a:defRPr>
                      </a:pPr>
                      <a:r>
                        <a:t>ACoS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A1A2E"/>
                          </a:solidFill>
                        </a:defRPr>
                      </a:pPr>
                      <a:r>
                        <a:t>43.0%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A1A2E"/>
                          </a:solidFill>
                        </a:defRPr>
                      </a:pPr>
                      <a:r>
                        <a:t>Ad spend as % of ad revenue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49134">
                <a:tc>
                  <a:txBody>
                    <a:bodyPr/>
                    <a:lstStyle/>
                    <a:p>
                      <a:pPr algn="l">
                        <a:defRPr sz="800">
                          <a:solidFill>
                            <a:srgbClr val="1A1A2E"/>
                          </a:solidFill>
                        </a:defRPr>
                      </a:pPr>
                      <a:r>
                        <a:t>Sessions</a:t>
                      </a:r>
                    </a:p>
                  </a:txBody>
                  <a:tcPr>
                    <a:solidFill>
                      <a:srgbClr val="F1F3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A1A2E"/>
                          </a:solidFill>
                        </a:defRPr>
                      </a:pPr>
                      <a:r>
                        <a:t>240,967</a:t>
                      </a:r>
                    </a:p>
                  </a:txBody>
                  <a:tcPr>
                    <a:solidFill>
                      <a:srgbClr val="F1F3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A1A2E"/>
                          </a:solidFill>
                        </a:defRPr>
                      </a:pPr>
                      <a:r>
                        <a:t>Avg 4,381/week</a:t>
                      </a:r>
                    </a:p>
                  </a:txBody>
                  <a:tcPr>
                    <a:solidFill>
                      <a:srgbClr val="F1F3F5"/>
                    </a:solidFill>
                  </a:tcPr>
                </a:tc>
              </a:tr>
              <a:tr h="349134">
                <a:tc>
                  <a:txBody>
                    <a:bodyPr/>
                    <a:lstStyle/>
                    <a:p>
                      <a:pPr algn="l">
                        <a:defRPr sz="800">
                          <a:solidFill>
                            <a:srgbClr val="1A1A2E"/>
                          </a:solidFill>
                        </a:defRPr>
                      </a:pPr>
                      <a:r>
                        <a:t>Conversion Rate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A1A2E"/>
                          </a:solidFill>
                        </a:defRPr>
                      </a:pPr>
                      <a:r>
                        <a:t>19.8%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A1A2E"/>
                          </a:solidFill>
                        </a:defRPr>
                      </a:pPr>
                      <a:r>
                        <a:t>Orders / Sessions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49140">
                <a:tc>
                  <a:txBody>
                    <a:bodyPr/>
                    <a:lstStyle/>
                    <a:p>
                      <a:pPr algn="l">
                        <a:defRPr sz="800">
                          <a:solidFill>
                            <a:srgbClr val="1A1A2E"/>
                          </a:solidFill>
                        </a:defRPr>
                      </a:pPr>
                      <a:r>
                        <a:t>Impressions</a:t>
                      </a:r>
                    </a:p>
                  </a:txBody>
                  <a:tcPr>
                    <a:solidFill>
                      <a:srgbClr val="F1F3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A1A2E"/>
                          </a:solidFill>
                        </a:defRPr>
                      </a:pPr>
                      <a:r>
                        <a:t>44,708,551</a:t>
                      </a:r>
                    </a:p>
                  </a:txBody>
                  <a:tcPr>
                    <a:solidFill>
                      <a:srgbClr val="F1F3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A1A2E"/>
                          </a:solidFill>
                        </a:defRPr>
                      </a:pPr>
                      <a:r>
                        <a:t>Avg 812,883/week</a:t>
                      </a:r>
                    </a:p>
                  </a:txBody>
                  <a:tcPr>
                    <a:solidFill>
                      <a:srgbClr val="F1F3F5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57200" y="512064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FF9900"/>
                </a:solidFill>
              </a:rPr>
              <a:t>Takeaways:</a:t>
            </a:r>
          </a:p>
          <a:p>
            <a:pPr>
              <a:spcBef>
                <a:spcPts val="200"/>
              </a:spcBef>
            </a:pPr>
            <a:r>
              <a:rPr sz="900">
                <a:solidFill>
                  <a:srgbClr val="4A4A5A"/>
                </a:solidFill>
              </a:rPr>
              <a:t>• Full year: $3,193,483 revenue from 52,865 units across 55 weeks</a:t>
            </a:r>
          </a:p>
          <a:p>
            <a:pPr>
              <a:spcBef>
                <a:spcPts val="200"/>
              </a:spcBef>
            </a:pPr>
            <a:r>
              <a:rPr sz="900">
                <a:solidFill>
                  <a:srgbClr val="4A4A5A"/>
                </a:solidFill>
              </a:rPr>
              <a:t>• Organic revenue ($2,201,141, 68.9%) far exceeds ad-driven ($991,694, 31.1%)</a:t>
            </a:r>
          </a:p>
          <a:p>
            <a:pPr>
              <a:spcBef>
                <a:spcPts val="200"/>
              </a:spcBef>
            </a:pPr>
            <a:r>
              <a:rPr sz="900">
                <a:solidFill>
                  <a:srgbClr val="4A4A5A"/>
                </a:solidFill>
              </a:rPr>
              <a:t>• ROAS of 2.32x with 13.4% TACoS — ads augment strong organic demand</a:t>
            </a:r>
          </a:p>
          <a:p>
            <a:pPr>
              <a:spcBef>
                <a:spcPts val="200"/>
              </a:spcBef>
            </a:pPr>
            <a:r>
              <a:rPr sz="900">
                <a:solidFill>
                  <a:srgbClr val="4A4A5A"/>
                </a:solidFill>
              </a:rPr>
              <a:t>• Avg weekly revenue: $58,063, avg weekly spend: $7,760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82296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FF9900"/>
                </a:solidFill>
              </a:defRPr>
            </a:pPr>
            <a:r>
              <a:t>2025 FULL YEAR PERFORMANCE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5720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A1A2E"/>
                </a:solidFill>
              </a:defRPr>
            </a:pPr>
            <a:r>
              <a:t>Ad-Driven vs Organic Revenue — Total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005840"/>
          <a:ext cx="7772400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1371600"/>
                <a:gridCol w="1371600"/>
                <a:gridCol w="1371600"/>
                <a:gridCol w="1371600"/>
              </a:tblGrid>
              <a:tr h="381000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Metric</a:t>
                      </a:r>
                    </a:p>
                  </a:txBody>
                  <a:tcPr>
                    <a:solidFill>
                      <a:srgbClr val="232F3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Ad-Driven</a:t>
                      </a:r>
                    </a:p>
                  </a:txBody>
                  <a:tcPr>
                    <a:solidFill>
                      <a:srgbClr val="232F3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Organic</a:t>
                      </a:r>
                    </a:p>
                  </a:txBody>
                  <a:tcPr>
                    <a:solidFill>
                      <a:srgbClr val="232F3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232F3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% Ad-Driven</a:t>
                      </a:r>
                    </a:p>
                  </a:txBody>
                  <a:tcPr>
                    <a:solidFill>
                      <a:srgbClr val="232F3E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l">
                        <a:defRPr sz="800">
                          <a:solidFill>
                            <a:srgbClr val="1A1A2E"/>
                          </a:solidFill>
                        </a:defRPr>
                      </a:pPr>
                      <a:r>
                        <a:t>Units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A1A2E"/>
                          </a:solidFill>
                        </a:defRPr>
                      </a:pPr>
                      <a:r>
                        <a:t>14,785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A1A2E"/>
                          </a:solidFill>
                        </a:defRPr>
                      </a:pPr>
                      <a:r>
                        <a:t>38,080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A1A2E"/>
                          </a:solidFill>
                        </a:defRPr>
                      </a:pPr>
                      <a:r>
                        <a:t>52,865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A1A2E"/>
                          </a:solidFill>
                        </a:defRPr>
                      </a:pPr>
                      <a:r>
                        <a:t>28.0%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l">
                        <a:defRPr sz="800">
                          <a:solidFill>
                            <a:srgbClr val="1A1A2E"/>
                          </a:solidFill>
                        </a:defRPr>
                      </a:pPr>
                      <a:r>
                        <a:t>Revenue ($)</a:t>
                      </a:r>
                    </a:p>
                  </a:txBody>
                  <a:tcPr>
                    <a:solidFill>
                      <a:srgbClr val="F1F3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A1A2E"/>
                          </a:solidFill>
                        </a:defRPr>
                      </a:pPr>
                      <a:r>
                        <a:t>$991,694</a:t>
                      </a:r>
                    </a:p>
                  </a:txBody>
                  <a:tcPr>
                    <a:solidFill>
                      <a:srgbClr val="F1F3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A1A2E"/>
                          </a:solidFill>
                        </a:defRPr>
                      </a:pPr>
                      <a:r>
                        <a:t>$2,201,141</a:t>
                      </a:r>
                    </a:p>
                  </a:txBody>
                  <a:tcPr>
                    <a:solidFill>
                      <a:srgbClr val="F1F3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A1A2E"/>
                          </a:solidFill>
                        </a:defRPr>
                      </a:pPr>
                      <a:r>
                        <a:t>$3,193,483</a:t>
                      </a:r>
                    </a:p>
                  </a:txBody>
                  <a:tcPr>
                    <a:solidFill>
                      <a:srgbClr val="F1F3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A1A2E"/>
                          </a:solidFill>
                        </a:defRPr>
                      </a:pPr>
                      <a:r>
                        <a:t>31.1%</a:t>
                      </a:r>
                    </a:p>
                  </a:txBody>
                  <a:tcPr>
                    <a:solidFill>
                      <a:srgbClr val="F1F3F5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l">
                        <a:defRPr sz="800">
                          <a:solidFill>
                            <a:srgbClr val="1A1A2E"/>
                          </a:solidFill>
                        </a:defRPr>
                      </a:pPr>
                      <a:r>
                        <a:t>Ad Spend ($)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A1A2E"/>
                          </a:solidFill>
                        </a:defRPr>
                      </a:pPr>
                      <a:r>
                        <a:t>$426,781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A1A2E"/>
                          </a:solidFill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A1A2E"/>
                          </a:solidFill>
                        </a:defRPr>
                      </a:pPr>
                      <a:r>
                        <a:t>$426,781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A1A2E"/>
                          </a:solidFill>
                        </a:defRPr>
                      </a:pPr>
                      <a:r>
                        <a:t>100%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l">
                        <a:defRPr sz="800">
                          <a:solidFill>
                            <a:srgbClr val="1A1A2E"/>
                          </a:solidFill>
                        </a:defRPr>
                      </a:pPr>
                      <a:r>
                        <a:t>ROAS</a:t>
                      </a:r>
                    </a:p>
                  </a:txBody>
                  <a:tcPr>
                    <a:solidFill>
                      <a:srgbClr val="F1F3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A1A2E"/>
                          </a:solidFill>
                        </a:defRPr>
                      </a:pPr>
                      <a:r>
                        <a:t>2.32x</a:t>
                      </a:r>
                    </a:p>
                  </a:txBody>
                  <a:tcPr>
                    <a:solidFill>
                      <a:srgbClr val="F1F3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A1A2E"/>
                          </a:solidFill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F1F3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A1A2E"/>
                          </a:solidFill>
                        </a:defRPr>
                      </a:pPr>
                      <a:r>
                        <a:t>2.32x</a:t>
                      </a:r>
                    </a:p>
                  </a:txBody>
                  <a:tcPr>
                    <a:solidFill>
                      <a:srgbClr val="F1F3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A1A2E"/>
                          </a:solidFill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F1F3F5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l">
                        <a:defRPr sz="800">
                          <a:solidFill>
                            <a:srgbClr val="1A1A2E"/>
                          </a:solidFill>
                        </a:defRPr>
                      </a:pPr>
                      <a:r>
                        <a:t>ACoS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A1A2E"/>
                          </a:solidFill>
                        </a:defRPr>
                      </a:pPr>
                      <a:r>
                        <a:t>43.0%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A1A2E"/>
                          </a:solidFill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A1A2E"/>
                          </a:solidFill>
                        </a:defRPr>
                      </a:pPr>
                      <a:r>
                        <a:t>43.0%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A1A2E"/>
                          </a:solidFill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57200" y="38404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FF9900"/>
                </a:solidFill>
              </a:rPr>
              <a:t>Takeaways:</a:t>
            </a:r>
          </a:p>
          <a:p>
            <a:pPr>
              <a:spcBef>
                <a:spcPts val="200"/>
              </a:spcBef>
            </a:pPr>
            <a:r>
              <a:rPr sz="900">
                <a:solidFill>
                  <a:srgbClr val="4A4A5A"/>
                </a:solidFill>
              </a:rPr>
              <a:t>• TACoS of 13.4% — ad spend is a small, efficient portion of total revenue</a:t>
            </a:r>
          </a:p>
          <a:p>
            <a:pPr>
              <a:spcBef>
                <a:spcPts val="200"/>
              </a:spcBef>
            </a:pPr>
            <a:r>
              <a:rPr sz="900">
                <a:solidFill>
                  <a:srgbClr val="4A4A5A"/>
                </a:solidFill>
              </a:rPr>
              <a:t>• Organic revenue (68.9%) demonstrates strong brand equity and repeat purchasing</a:t>
            </a:r>
          </a:p>
          <a:p>
            <a:pPr>
              <a:spcBef>
                <a:spcPts val="200"/>
              </a:spcBef>
            </a:pPr>
            <a:r>
              <a:rPr sz="900">
                <a:solidFill>
                  <a:srgbClr val="4A4A5A"/>
                </a:solidFill>
              </a:rPr>
              <a:t>• Every $1 of ad spend generates $2.32 in attributed ad revenue</a:t>
            </a:r>
          </a:p>
          <a:p>
            <a:pPr>
              <a:spcBef>
                <a:spcPts val="200"/>
              </a:spcBef>
            </a:pPr>
            <a:r>
              <a:rPr sz="900">
                <a:solidFill>
                  <a:srgbClr val="4A4A5A"/>
                </a:solidFill>
              </a:rPr>
              <a:t>• The ~69/31 organic-to-ad split shows ads complement rather than sustain revenue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82296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FF9900"/>
                </a:solidFill>
              </a:defRPr>
            </a:pPr>
            <a:r>
              <a:t>2025 FULL YEAR PERFORMANCE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5720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A1A2E"/>
                </a:solidFill>
              </a:defRPr>
            </a:pPr>
            <a:r>
              <a:t>Performance by Brand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182880" y="1005840"/>
          <a:ext cx="7955280" cy="3474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88720"/>
                <a:gridCol w="1005840"/>
                <a:gridCol w="731520"/>
                <a:gridCol w="914400"/>
                <a:gridCol w="914400"/>
                <a:gridCol w="1005840"/>
                <a:gridCol w="731520"/>
                <a:gridCol w="731520"/>
                <a:gridCol w="731520"/>
              </a:tblGrid>
              <a:tr h="347472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Brand</a:t>
                      </a:r>
                    </a:p>
                  </a:txBody>
                  <a:tcPr>
                    <a:solidFill>
                      <a:srgbClr val="232F3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Revenue</a:t>
                      </a:r>
                    </a:p>
                  </a:txBody>
                  <a:tcPr>
                    <a:solidFill>
                      <a:srgbClr val="232F3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Units</a:t>
                      </a:r>
                    </a:p>
                  </a:txBody>
                  <a:tcPr>
                    <a:solidFill>
                      <a:srgbClr val="232F3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Ad Spend</a:t>
                      </a:r>
                    </a:p>
                  </a:txBody>
                  <a:tcPr>
                    <a:solidFill>
                      <a:srgbClr val="232F3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Ad Sales</a:t>
                      </a:r>
                    </a:p>
                  </a:txBody>
                  <a:tcPr>
                    <a:solidFill>
                      <a:srgbClr val="232F3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Organic</a:t>
                      </a:r>
                    </a:p>
                  </a:txBody>
                  <a:tcPr>
                    <a:solidFill>
                      <a:srgbClr val="232F3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ROAS</a:t>
                      </a:r>
                    </a:p>
                  </a:txBody>
                  <a:tcPr>
                    <a:solidFill>
                      <a:srgbClr val="232F3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ACoS</a:t>
                      </a:r>
                    </a:p>
                  </a:txBody>
                  <a:tcPr>
                    <a:solidFill>
                      <a:srgbClr val="232F3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TACoS</a:t>
                      </a:r>
                    </a:p>
                  </a:txBody>
                  <a:tcPr>
                    <a:solidFill>
                      <a:srgbClr val="232F3E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>
                        <a:defRPr sz="800">
                          <a:solidFill>
                            <a:srgbClr val="1A1A2E"/>
                          </a:solidFill>
                        </a:defRPr>
                      </a:pPr>
                      <a:r>
                        <a:t>Prosvent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A1A2E"/>
                          </a:solidFill>
                        </a:defRPr>
                      </a:pPr>
                      <a:r>
                        <a:t>$1,777,284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A1A2E"/>
                          </a:solidFill>
                        </a:defRPr>
                      </a:pPr>
                      <a:r>
                        <a:t>29,956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A1A2E"/>
                          </a:solidFill>
                        </a:defRPr>
                      </a:pPr>
                      <a:r>
                        <a:t>$244,591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A1A2E"/>
                          </a:solidFill>
                        </a:defRPr>
                      </a:pPr>
                      <a:r>
                        <a:t>$565,908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A1A2E"/>
                          </a:solidFill>
                        </a:defRPr>
                      </a:pPr>
                      <a:r>
                        <a:t>$1,211,376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A1A2E"/>
                          </a:solidFill>
                        </a:defRPr>
                      </a:pPr>
                      <a:r>
                        <a:t>2.31x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A1A2E"/>
                          </a:solidFill>
                        </a:defRPr>
                      </a:pPr>
                      <a:r>
                        <a:t>43.2%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A1A2E"/>
                          </a:solidFill>
                        </a:defRPr>
                      </a:pPr>
                      <a:r>
                        <a:t>13.8%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>
                        <a:defRPr sz="800">
                          <a:solidFill>
                            <a:srgbClr val="1A1A2E"/>
                          </a:solidFill>
                        </a:defRPr>
                      </a:pPr>
                      <a:r>
                        <a:t>Better Bladder</a:t>
                      </a:r>
                    </a:p>
                  </a:txBody>
                  <a:tcPr>
                    <a:solidFill>
                      <a:srgbClr val="F1F3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A1A2E"/>
                          </a:solidFill>
                        </a:defRPr>
                      </a:pPr>
                      <a:r>
                        <a:t>$658,094</a:t>
                      </a:r>
                    </a:p>
                  </a:txBody>
                  <a:tcPr>
                    <a:solidFill>
                      <a:srgbClr val="F1F3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A1A2E"/>
                          </a:solidFill>
                        </a:defRPr>
                      </a:pPr>
                      <a:r>
                        <a:t>9,956</a:t>
                      </a:r>
                    </a:p>
                  </a:txBody>
                  <a:tcPr>
                    <a:solidFill>
                      <a:srgbClr val="F1F3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A1A2E"/>
                          </a:solidFill>
                        </a:defRPr>
                      </a:pPr>
                      <a:r>
                        <a:t>$80,854</a:t>
                      </a:r>
                    </a:p>
                  </a:txBody>
                  <a:tcPr>
                    <a:solidFill>
                      <a:srgbClr val="F1F3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A1A2E"/>
                          </a:solidFill>
                        </a:defRPr>
                      </a:pPr>
                      <a:r>
                        <a:t>$200,815</a:t>
                      </a:r>
                    </a:p>
                  </a:txBody>
                  <a:tcPr>
                    <a:solidFill>
                      <a:srgbClr val="F1F3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A1A2E"/>
                          </a:solidFill>
                        </a:defRPr>
                      </a:pPr>
                      <a:r>
                        <a:t>$457,279</a:t>
                      </a:r>
                    </a:p>
                  </a:txBody>
                  <a:tcPr>
                    <a:solidFill>
                      <a:srgbClr val="F1F3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A1A2E"/>
                          </a:solidFill>
                        </a:defRPr>
                      </a:pPr>
                      <a:r>
                        <a:t>2.48x</a:t>
                      </a:r>
                    </a:p>
                  </a:txBody>
                  <a:tcPr>
                    <a:solidFill>
                      <a:srgbClr val="F1F3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A1A2E"/>
                          </a:solidFill>
                        </a:defRPr>
                      </a:pPr>
                      <a:r>
                        <a:t>40.3%</a:t>
                      </a:r>
                    </a:p>
                  </a:txBody>
                  <a:tcPr>
                    <a:solidFill>
                      <a:srgbClr val="F1F3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A1A2E"/>
                          </a:solidFill>
                        </a:defRPr>
                      </a:pPr>
                      <a:r>
                        <a:t>12.3%</a:t>
                      </a:r>
                    </a:p>
                  </a:txBody>
                  <a:tcPr>
                    <a:solidFill>
                      <a:srgbClr val="F1F3F5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>
                        <a:defRPr sz="800">
                          <a:solidFill>
                            <a:srgbClr val="1A1A2E"/>
                          </a:solidFill>
                        </a:defRPr>
                      </a:pPr>
                      <a:r>
                        <a:t>Ideal Prostate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A1A2E"/>
                          </a:solidFill>
                        </a:defRPr>
                      </a:pPr>
                      <a:r>
                        <a:t>$600,771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A1A2E"/>
                          </a:solidFill>
                        </a:defRPr>
                      </a:pPr>
                      <a:r>
                        <a:t>9,369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A1A2E"/>
                          </a:solidFill>
                        </a:defRPr>
                      </a:pPr>
                      <a:r>
                        <a:t>$80,198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A1A2E"/>
                          </a:solidFill>
                        </a:defRPr>
                      </a:pPr>
                      <a:r>
                        <a:t>$192,396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A1A2E"/>
                          </a:solidFill>
                        </a:defRPr>
                      </a:pPr>
                      <a:r>
                        <a:t>$408,375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A1A2E"/>
                          </a:solidFill>
                        </a:defRPr>
                      </a:pPr>
                      <a:r>
                        <a:t>2.40x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A1A2E"/>
                          </a:solidFill>
                        </a:defRPr>
                      </a:pPr>
                      <a:r>
                        <a:t>41.7%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A1A2E"/>
                          </a:solidFill>
                        </a:defRPr>
                      </a:pPr>
                      <a:r>
                        <a:t>13.3%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>
                        <a:defRPr sz="800">
                          <a:solidFill>
                            <a:srgbClr val="1A1A2E"/>
                          </a:solidFill>
                        </a:defRPr>
                      </a:pPr>
                      <a:r>
                        <a:t>Cebria</a:t>
                      </a:r>
                    </a:p>
                  </a:txBody>
                  <a:tcPr>
                    <a:solidFill>
                      <a:srgbClr val="F1F3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A1A2E"/>
                          </a:solidFill>
                        </a:defRPr>
                      </a:pPr>
                      <a:r>
                        <a:t>$53,253</a:t>
                      </a:r>
                    </a:p>
                  </a:txBody>
                  <a:tcPr>
                    <a:solidFill>
                      <a:srgbClr val="F1F3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A1A2E"/>
                          </a:solidFill>
                        </a:defRPr>
                      </a:pPr>
                      <a:r>
                        <a:t>1,451</a:t>
                      </a:r>
                    </a:p>
                  </a:txBody>
                  <a:tcPr>
                    <a:solidFill>
                      <a:srgbClr val="F1F3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A1A2E"/>
                          </a:solidFill>
                        </a:defRPr>
                      </a:pPr>
                      <a:r>
                        <a:t>$6,868</a:t>
                      </a:r>
                    </a:p>
                  </a:txBody>
                  <a:tcPr>
                    <a:solidFill>
                      <a:srgbClr val="F1F3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A1A2E"/>
                          </a:solidFill>
                        </a:defRPr>
                      </a:pPr>
                      <a:r>
                        <a:t>$8,526</a:t>
                      </a:r>
                    </a:p>
                  </a:txBody>
                  <a:tcPr>
                    <a:solidFill>
                      <a:srgbClr val="F1F3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A1A2E"/>
                          </a:solidFill>
                        </a:defRPr>
                      </a:pPr>
                      <a:r>
                        <a:t>$44,727</a:t>
                      </a:r>
                    </a:p>
                  </a:txBody>
                  <a:tcPr>
                    <a:solidFill>
                      <a:srgbClr val="F1F3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A1A2E"/>
                          </a:solidFill>
                        </a:defRPr>
                      </a:pPr>
                      <a:r>
                        <a:t>1.24x</a:t>
                      </a:r>
                    </a:p>
                  </a:txBody>
                  <a:tcPr>
                    <a:solidFill>
                      <a:srgbClr val="F1F3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A1A2E"/>
                          </a:solidFill>
                        </a:defRPr>
                      </a:pPr>
                      <a:r>
                        <a:t>80.6%</a:t>
                      </a:r>
                    </a:p>
                  </a:txBody>
                  <a:tcPr>
                    <a:solidFill>
                      <a:srgbClr val="F1F3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A1A2E"/>
                          </a:solidFill>
                        </a:defRPr>
                      </a:pPr>
                      <a:r>
                        <a:t>12.9%</a:t>
                      </a:r>
                    </a:p>
                  </a:txBody>
                  <a:tcPr>
                    <a:solidFill>
                      <a:srgbClr val="F1F3F5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>
                        <a:defRPr sz="800">
                          <a:solidFill>
                            <a:srgbClr val="1A1A2E"/>
                          </a:solidFill>
                        </a:defRPr>
                      </a:pPr>
                      <a:r>
                        <a:t>Grown American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A1A2E"/>
                          </a:solidFill>
                        </a:defRPr>
                      </a:pPr>
                      <a:r>
                        <a:t>$44,158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A1A2E"/>
                          </a:solidFill>
                        </a:defRPr>
                      </a:pPr>
                      <a:r>
                        <a:t>1,052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A1A2E"/>
                          </a:solidFill>
                        </a:defRPr>
                      </a:pPr>
                      <a:r>
                        <a:t>$4,222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A1A2E"/>
                          </a:solidFill>
                        </a:defRPr>
                      </a:pPr>
                      <a:r>
                        <a:t>$12,983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A1A2E"/>
                          </a:solidFill>
                        </a:defRPr>
                      </a:pPr>
                      <a:r>
                        <a:t>$31,105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A1A2E"/>
                          </a:solidFill>
                        </a:defRPr>
                      </a:pPr>
                      <a:r>
                        <a:t>3.08x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A1A2E"/>
                          </a:solidFill>
                        </a:defRPr>
                      </a:pPr>
                      <a:r>
                        <a:t>32.5%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A1A2E"/>
                          </a:solidFill>
                        </a:defRPr>
                      </a:pPr>
                      <a:r>
                        <a:t>9.6%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>
                        <a:defRPr sz="800">
                          <a:solidFill>
                            <a:srgbClr val="1A1A2E"/>
                          </a:solidFill>
                        </a:defRPr>
                      </a:pPr>
                      <a:r>
                        <a:t>Profemin</a:t>
                      </a:r>
                    </a:p>
                  </a:txBody>
                  <a:tcPr>
                    <a:solidFill>
                      <a:srgbClr val="F1F3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A1A2E"/>
                          </a:solidFill>
                        </a:defRPr>
                      </a:pPr>
                      <a:r>
                        <a:t>$28,904</a:t>
                      </a:r>
                    </a:p>
                  </a:txBody>
                  <a:tcPr>
                    <a:solidFill>
                      <a:srgbClr val="F1F3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A1A2E"/>
                          </a:solidFill>
                        </a:defRPr>
                      </a:pPr>
                      <a:r>
                        <a:t>528</a:t>
                      </a:r>
                    </a:p>
                  </a:txBody>
                  <a:tcPr>
                    <a:solidFill>
                      <a:srgbClr val="F1F3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A1A2E"/>
                          </a:solidFill>
                        </a:defRPr>
                      </a:pPr>
                      <a:r>
                        <a:t>$3,609</a:t>
                      </a:r>
                    </a:p>
                  </a:txBody>
                  <a:tcPr>
                    <a:solidFill>
                      <a:srgbClr val="F1F3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A1A2E"/>
                          </a:solidFill>
                        </a:defRPr>
                      </a:pPr>
                      <a:r>
                        <a:t>$3,187</a:t>
                      </a:r>
                    </a:p>
                  </a:txBody>
                  <a:tcPr>
                    <a:solidFill>
                      <a:srgbClr val="F1F3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A1A2E"/>
                          </a:solidFill>
                        </a:defRPr>
                      </a:pPr>
                      <a:r>
                        <a:t>$25,717</a:t>
                      </a:r>
                    </a:p>
                  </a:txBody>
                  <a:tcPr>
                    <a:solidFill>
                      <a:srgbClr val="F1F3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A1A2E"/>
                          </a:solidFill>
                        </a:defRPr>
                      </a:pPr>
                      <a:r>
                        <a:t>0.88x</a:t>
                      </a:r>
                    </a:p>
                  </a:txBody>
                  <a:tcPr>
                    <a:solidFill>
                      <a:srgbClr val="F1F3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A1A2E"/>
                          </a:solidFill>
                        </a:defRPr>
                      </a:pPr>
                      <a:r>
                        <a:t>113.2%</a:t>
                      </a:r>
                    </a:p>
                  </a:txBody>
                  <a:tcPr>
                    <a:solidFill>
                      <a:srgbClr val="F1F3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A1A2E"/>
                          </a:solidFill>
                        </a:defRPr>
                      </a:pPr>
                      <a:r>
                        <a:t>12.5%</a:t>
                      </a:r>
                    </a:p>
                  </a:txBody>
                  <a:tcPr>
                    <a:solidFill>
                      <a:srgbClr val="F1F3F5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>
                        <a:defRPr sz="800">
                          <a:solidFill>
                            <a:srgbClr val="1A1A2E"/>
                          </a:solidFill>
                        </a:defRPr>
                      </a:pPr>
                      <a:r>
                        <a:t>BeFlexible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A1A2E"/>
                          </a:solidFill>
                        </a:defRPr>
                      </a:pPr>
                      <a:r>
                        <a:t>$17,597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A1A2E"/>
                          </a:solidFill>
                        </a:defRPr>
                      </a:pPr>
                      <a:r>
                        <a:t>252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A1A2E"/>
                          </a:solidFill>
                        </a:defRPr>
                      </a:pPr>
                      <a:r>
                        <a:t>$687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A1A2E"/>
                          </a:solidFill>
                        </a:defRPr>
                      </a:pPr>
                      <a:r>
                        <a:t>$690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A1A2E"/>
                          </a:solidFill>
                        </a:defRPr>
                      </a:pPr>
                      <a:r>
                        <a:t>$16,418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A1A2E"/>
                          </a:solidFill>
                        </a:defRPr>
                      </a:pPr>
                      <a:r>
                        <a:t>1.00x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A1A2E"/>
                          </a:solidFill>
                        </a:defRPr>
                      </a:pPr>
                      <a:r>
                        <a:t>99.7%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A1A2E"/>
                          </a:solidFill>
                        </a:defRPr>
                      </a:pPr>
                      <a:r>
                        <a:t>3.9%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>
                        <a:defRPr sz="800">
                          <a:solidFill>
                            <a:srgbClr val="1A1A2E"/>
                          </a:solidFill>
                        </a:defRPr>
                      </a:pPr>
                      <a:r>
                        <a:t>AromaTru</a:t>
                      </a:r>
                    </a:p>
                  </a:txBody>
                  <a:tcPr>
                    <a:solidFill>
                      <a:srgbClr val="F1F3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A1A2E"/>
                          </a:solidFill>
                        </a:defRPr>
                      </a:pPr>
                      <a:r>
                        <a:t>$12,614</a:t>
                      </a:r>
                    </a:p>
                  </a:txBody>
                  <a:tcPr>
                    <a:solidFill>
                      <a:srgbClr val="F1F3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A1A2E"/>
                          </a:solidFill>
                        </a:defRPr>
                      </a:pPr>
                      <a:r>
                        <a:t>274</a:t>
                      </a:r>
                    </a:p>
                  </a:txBody>
                  <a:tcPr>
                    <a:solidFill>
                      <a:srgbClr val="F1F3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A1A2E"/>
                          </a:solidFill>
                        </a:defRPr>
                      </a:pPr>
                      <a:r>
                        <a:t>$5,709</a:t>
                      </a:r>
                    </a:p>
                  </a:txBody>
                  <a:tcPr>
                    <a:solidFill>
                      <a:srgbClr val="F1F3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A1A2E"/>
                          </a:solidFill>
                        </a:defRPr>
                      </a:pPr>
                      <a:r>
                        <a:t>$7,129</a:t>
                      </a:r>
                    </a:p>
                  </a:txBody>
                  <a:tcPr>
                    <a:solidFill>
                      <a:srgbClr val="F1F3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A1A2E"/>
                          </a:solidFill>
                        </a:defRPr>
                      </a:pPr>
                      <a:r>
                        <a:t>$5,396</a:t>
                      </a:r>
                    </a:p>
                  </a:txBody>
                  <a:tcPr>
                    <a:solidFill>
                      <a:srgbClr val="F1F3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A1A2E"/>
                          </a:solidFill>
                        </a:defRPr>
                      </a:pPr>
                      <a:r>
                        <a:t>1.25x</a:t>
                      </a:r>
                    </a:p>
                  </a:txBody>
                  <a:tcPr>
                    <a:solidFill>
                      <a:srgbClr val="F1F3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A1A2E"/>
                          </a:solidFill>
                        </a:defRPr>
                      </a:pPr>
                      <a:r>
                        <a:t>80.1%</a:t>
                      </a:r>
                    </a:p>
                  </a:txBody>
                  <a:tcPr>
                    <a:solidFill>
                      <a:srgbClr val="F1F3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A1A2E"/>
                          </a:solidFill>
                        </a:defRPr>
                      </a:pPr>
                      <a:r>
                        <a:t>45.3%</a:t>
                      </a:r>
                    </a:p>
                  </a:txBody>
                  <a:tcPr>
                    <a:solidFill>
                      <a:srgbClr val="F1F3F5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>
                        <a:defRPr sz="800">
                          <a:solidFill>
                            <a:srgbClr val="1A1A2E"/>
                          </a:solidFill>
                        </a:defRPr>
                      </a:pPr>
                      <a:r>
                        <a:t>Perfect Omega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A1A2E"/>
                          </a:solidFill>
                        </a:defRPr>
                      </a:pPr>
                      <a:r>
                        <a:t>$809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A1A2E"/>
                          </a:solidFill>
                        </a:defRPr>
                      </a:pPr>
                      <a:r>
                        <a:t>27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A1A2E"/>
                          </a:solidFill>
                        </a:defRPr>
                      </a:pPr>
                      <a:r>
                        <a:t>$43.89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A1A2E"/>
                          </a:solidFill>
                        </a:defRPr>
                      </a:pPr>
                      <a:r>
                        <a:t>$59.90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A1A2E"/>
                          </a:solidFill>
                        </a:defRPr>
                      </a:pPr>
                      <a:r>
                        <a:t>$749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A1A2E"/>
                          </a:solidFill>
                        </a:defRPr>
                      </a:pPr>
                      <a:r>
                        <a:t>1.36x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A1A2E"/>
                          </a:solidFill>
                        </a:defRPr>
                      </a:pPr>
                      <a:r>
                        <a:t>73.3%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A1A2E"/>
                          </a:solidFill>
                        </a:defRPr>
                      </a:pPr>
                      <a:r>
                        <a:t>5.4%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57200" y="484632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FF9900"/>
                </a:solidFill>
              </a:rPr>
              <a:t>Takeaways:</a:t>
            </a:r>
          </a:p>
          <a:p>
            <a:pPr>
              <a:spcBef>
                <a:spcPts val="200"/>
              </a:spcBef>
            </a:pPr>
            <a:r>
              <a:rPr sz="900">
                <a:solidFill>
                  <a:srgbClr val="4A4A5A"/>
                </a:solidFill>
              </a:rPr>
              <a:t>• Prosvent dominates at $1,777,284 (55.7% of total)</a:t>
            </a:r>
          </a:p>
          <a:p>
            <a:pPr>
              <a:spcBef>
                <a:spcPts val="200"/>
              </a:spcBef>
            </a:pPr>
            <a:r>
              <a:rPr sz="900">
                <a:solidFill>
                  <a:srgbClr val="4A4A5A"/>
                </a:solidFill>
              </a:rPr>
              <a:t>• Top 3 brands represent 95.1% of total revenue</a:t>
            </a:r>
          </a:p>
          <a:p>
            <a:pPr>
              <a:spcBef>
                <a:spcPts val="200"/>
              </a:spcBef>
            </a:pPr>
            <a:r>
              <a:rPr sz="900">
                <a:solidFill>
                  <a:srgbClr val="4A4A5A"/>
                </a:solidFill>
              </a:rPr>
              <a:t>• Grown American has highest ROAS at 3.08x — most efficient ad spend</a:t>
            </a:r>
          </a:p>
          <a:p>
            <a:pPr>
              <a:spcBef>
                <a:spcPts val="200"/>
              </a:spcBef>
            </a:pPr>
            <a:r>
              <a:rPr sz="900">
                <a:solidFill>
                  <a:srgbClr val="4A4A5A"/>
                </a:solidFill>
              </a:rPr>
              <a:t>• BeFlexible and Perfect Omega run with minimal ad budgets and strong organic bases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82296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FF9900"/>
                </a:solidFill>
              </a:defRPr>
            </a:pPr>
            <a:r>
              <a:t>2025 FULL YEAR PERFORMANCE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5720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A1A2E"/>
                </a:solidFill>
              </a:defRPr>
            </a:pPr>
            <a:r>
              <a:t>Ad-Driven vs Organic Revenue by Brand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182880" y="1005840"/>
          <a:ext cx="7132320" cy="3474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88720"/>
                <a:gridCol w="1188720"/>
                <a:gridCol w="1188720"/>
                <a:gridCol w="1188720"/>
                <a:gridCol w="731520"/>
                <a:gridCol w="731520"/>
                <a:gridCol w="914400"/>
              </a:tblGrid>
              <a:tr h="347472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Brand</a:t>
                      </a:r>
                    </a:p>
                  </a:txBody>
                  <a:tcPr>
                    <a:solidFill>
                      <a:srgbClr val="232F3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Total Revenue</a:t>
                      </a:r>
                    </a:p>
                  </a:txBody>
                  <a:tcPr>
                    <a:solidFill>
                      <a:srgbClr val="232F3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Ad Revenue</a:t>
                      </a:r>
                    </a:p>
                  </a:txBody>
                  <a:tcPr>
                    <a:solidFill>
                      <a:srgbClr val="232F3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Organic</a:t>
                      </a:r>
                    </a:p>
                  </a:txBody>
                  <a:tcPr>
                    <a:solidFill>
                      <a:srgbClr val="232F3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% Ad</a:t>
                      </a:r>
                    </a:p>
                  </a:txBody>
                  <a:tcPr>
                    <a:solidFill>
                      <a:srgbClr val="232F3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% Organic</a:t>
                      </a:r>
                    </a:p>
                  </a:txBody>
                  <a:tcPr>
                    <a:solidFill>
                      <a:srgbClr val="232F3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Profile</a:t>
                      </a:r>
                    </a:p>
                  </a:txBody>
                  <a:tcPr>
                    <a:solidFill>
                      <a:srgbClr val="232F3E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>
                        <a:defRPr sz="800">
                          <a:solidFill>
                            <a:srgbClr val="1A1A2E"/>
                          </a:solidFill>
                        </a:defRPr>
                      </a:pPr>
                      <a:r>
                        <a:t>Prosvent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A1A2E"/>
                          </a:solidFill>
                        </a:defRPr>
                      </a:pPr>
                      <a:r>
                        <a:t>$1,777,284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A1A2E"/>
                          </a:solidFill>
                        </a:defRPr>
                      </a:pPr>
                      <a:r>
                        <a:t>$565,908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A1A2E"/>
                          </a:solidFill>
                        </a:defRPr>
                      </a:pPr>
                      <a:r>
                        <a:t>$1,211,376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A1A2E"/>
                          </a:solidFill>
                        </a:defRPr>
                      </a:pPr>
                      <a:r>
                        <a:t>31.8%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A1A2E"/>
                          </a:solidFill>
                        </a:defRPr>
                      </a:pPr>
                      <a:r>
                        <a:t>68.2%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A1A2E"/>
                          </a:solidFill>
                        </a:defRPr>
                      </a:pPr>
                      <a:r>
                        <a:t>Balanced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>
                        <a:defRPr sz="800">
                          <a:solidFill>
                            <a:srgbClr val="1A1A2E"/>
                          </a:solidFill>
                        </a:defRPr>
                      </a:pPr>
                      <a:r>
                        <a:t>Better Bladder</a:t>
                      </a:r>
                    </a:p>
                  </a:txBody>
                  <a:tcPr>
                    <a:solidFill>
                      <a:srgbClr val="F1F3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A1A2E"/>
                          </a:solidFill>
                        </a:defRPr>
                      </a:pPr>
                      <a:r>
                        <a:t>$658,094</a:t>
                      </a:r>
                    </a:p>
                  </a:txBody>
                  <a:tcPr>
                    <a:solidFill>
                      <a:srgbClr val="F1F3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A1A2E"/>
                          </a:solidFill>
                        </a:defRPr>
                      </a:pPr>
                      <a:r>
                        <a:t>$200,815</a:t>
                      </a:r>
                    </a:p>
                  </a:txBody>
                  <a:tcPr>
                    <a:solidFill>
                      <a:srgbClr val="F1F3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A1A2E"/>
                          </a:solidFill>
                        </a:defRPr>
                      </a:pPr>
                      <a:r>
                        <a:t>$457,279</a:t>
                      </a:r>
                    </a:p>
                  </a:txBody>
                  <a:tcPr>
                    <a:solidFill>
                      <a:srgbClr val="F1F3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A1A2E"/>
                          </a:solidFill>
                        </a:defRPr>
                      </a:pPr>
                      <a:r>
                        <a:t>30.5%</a:t>
                      </a:r>
                    </a:p>
                  </a:txBody>
                  <a:tcPr>
                    <a:solidFill>
                      <a:srgbClr val="F1F3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A1A2E"/>
                          </a:solidFill>
                        </a:defRPr>
                      </a:pPr>
                      <a:r>
                        <a:t>69.5%</a:t>
                      </a:r>
                    </a:p>
                  </a:txBody>
                  <a:tcPr>
                    <a:solidFill>
                      <a:srgbClr val="F1F3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A1A2E"/>
                          </a:solidFill>
                        </a:defRPr>
                      </a:pPr>
                      <a:r>
                        <a:t>Balanced</a:t>
                      </a:r>
                    </a:p>
                  </a:txBody>
                  <a:tcPr>
                    <a:solidFill>
                      <a:srgbClr val="F1F3F5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>
                        <a:defRPr sz="800">
                          <a:solidFill>
                            <a:srgbClr val="1A1A2E"/>
                          </a:solidFill>
                        </a:defRPr>
                      </a:pPr>
                      <a:r>
                        <a:t>Ideal Prostate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A1A2E"/>
                          </a:solidFill>
                        </a:defRPr>
                      </a:pPr>
                      <a:r>
                        <a:t>$600,771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A1A2E"/>
                          </a:solidFill>
                        </a:defRPr>
                      </a:pPr>
                      <a:r>
                        <a:t>$192,396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A1A2E"/>
                          </a:solidFill>
                        </a:defRPr>
                      </a:pPr>
                      <a:r>
                        <a:t>$408,375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A1A2E"/>
                          </a:solidFill>
                        </a:defRPr>
                      </a:pPr>
                      <a:r>
                        <a:t>32.0%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A1A2E"/>
                          </a:solidFill>
                        </a:defRPr>
                      </a:pPr>
                      <a:r>
                        <a:t>68.0%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A1A2E"/>
                          </a:solidFill>
                        </a:defRPr>
                      </a:pPr>
                      <a:r>
                        <a:t>Balanced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>
                        <a:defRPr sz="800">
                          <a:solidFill>
                            <a:srgbClr val="1A1A2E"/>
                          </a:solidFill>
                        </a:defRPr>
                      </a:pPr>
                      <a:r>
                        <a:t>Cebria</a:t>
                      </a:r>
                    </a:p>
                  </a:txBody>
                  <a:tcPr>
                    <a:solidFill>
                      <a:srgbClr val="F1F3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A1A2E"/>
                          </a:solidFill>
                        </a:defRPr>
                      </a:pPr>
                      <a:r>
                        <a:t>$53,253</a:t>
                      </a:r>
                    </a:p>
                  </a:txBody>
                  <a:tcPr>
                    <a:solidFill>
                      <a:srgbClr val="F1F3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A1A2E"/>
                          </a:solidFill>
                        </a:defRPr>
                      </a:pPr>
                      <a:r>
                        <a:t>$8,526</a:t>
                      </a:r>
                    </a:p>
                  </a:txBody>
                  <a:tcPr>
                    <a:solidFill>
                      <a:srgbClr val="F1F3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A1A2E"/>
                          </a:solidFill>
                        </a:defRPr>
                      </a:pPr>
                      <a:r>
                        <a:t>$44,727</a:t>
                      </a:r>
                    </a:p>
                  </a:txBody>
                  <a:tcPr>
                    <a:solidFill>
                      <a:srgbClr val="F1F3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A1A2E"/>
                          </a:solidFill>
                        </a:defRPr>
                      </a:pPr>
                      <a:r>
                        <a:t>16.0%</a:t>
                      </a:r>
                    </a:p>
                  </a:txBody>
                  <a:tcPr>
                    <a:solidFill>
                      <a:srgbClr val="F1F3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A1A2E"/>
                          </a:solidFill>
                        </a:defRPr>
                      </a:pPr>
                      <a:r>
                        <a:t>84.0%</a:t>
                      </a:r>
                    </a:p>
                  </a:txBody>
                  <a:tcPr>
                    <a:solidFill>
                      <a:srgbClr val="F1F3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A1A2E"/>
                          </a:solidFill>
                        </a:defRPr>
                      </a:pPr>
                      <a:r>
                        <a:t>Organic-Led</a:t>
                      </a:r>
                    </a:p>
                  </a:txBody>
                  <a:tcPr>
                    <a:solidFill>
                      <a:srgbClr val="F1F3F5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>
                        <a:defRPr sz="800">
                          <a:solidFill>
                            <a:srgbClr val="1A1A2E"/>
                          </a:solidFill>
                        </a:defRPr>
                      </a:pPr>
                      <a:r>
                        <a:t>Grown American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A1A2E"/>
                          </a:solidFill>
                        </a:defRPr>
                      </a:pPr>
                      <a:r>
                        <a:t>$44,158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A1A2E"/>
                          </a:solidFill>
                        </a:defRPr>
                      </a:pPr>
                      <a:r>
                        <a:t>$12,983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A1A2E"/>
                          </a:solidFill>
                        </a:defRPr>
                      </a:pPr>
                      <a:r>
                        <a:t>$31,105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A1A2E"/>
                          </a:solidFill>
                        </a:defRPr>
                      </a:pPr>
                      <a:r>
                        <a:t>29.4%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A1A2E"/>
                          </a:solidFill>
                        </a:defRPr>
                      </a:pPr>
                      <a:r>
                        <a:t>70.4%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A1A2E"/>
                          </a:solidFill>
                        </a:defRPr>
                      </a:pPr>
                      <a:r>
                        <a:t>Balanced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>
                        <a:defRPr sz="800">
                          <a:solidFill>
                            <a:srgbClr val="1A1A2E"/>
                          </a:solidFill>
                        </a:defRPr>
                      </a:pPr>
                      <a:r>
                        <a:t>Profemin</a:t>
                      </a:r>
                    </a:p>
                  </a:txBody>
                  <a:tcPr>
                    <a:solidFill>
                      <a:srgbClr val="F1F3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A1A2E"/>
                          </a:solidFill>
                        </a:defRPr>
                      </a:pPr>
                      <a:r>
                        <a:t>$28,904</a:t>
                      </a:r>
                    </a:p>
                  </a:txBody>
                  <a:tcPr>
                    <a:solidFill>
                      <a:srgbClr val="F1F3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A1A2E"/>
                          </a:solidFill>
                        </a:defRPr>
                      </a:pPr>
                      <a:r>
                        <a:t>$3,187</a:t>
                      </a:r>
                    </a:p>
                  </a:txBody>
                  <a:tcPr>
                    <a:solidFill>
                      <a:srgbClr val="F1F3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A1A2E"/>
                          </a:solidFill>
                        </a:defRPr>
                      </a:pPr>
                      <a:r>
                        <a:t>$25,717</a:t>
                      </a:r>
                    </a:p>
                  </a:txBody>
                  <a:tcPr>
                    <a:solidFill>
                      <a:srgbClr val="F1F3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A1A2E"/>
                          </a:solidFill>
                        </a:defRPr>
                      </a:pPr>
                      <a:r>
                        <a:t>11.0%</a:t>
                      </a:r>
                    </a:p>
                  </a:txBody>
                  <a:tcPr>
                    <a:solidFill>
                      <a:srgbClr val="F1F3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A1A2E"/>
                          </a:solidFill>
                        </a:defRPr>
                      </a:pPr>
                      <a:r>
                        <a:t>89.0%</a:t>
                      </a:r>
                    </a:p>
                  </a:txBody>
                  <a:tcPr>
                    <a:solidFill>
                      <a:srgbClr val="F1F3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A1A2E"/>
                          </a:solidFill>
                        </a:defRPr>
                      </a:pPr>
                      <a:r>
                        <a:t>Organic-Led</a:t>
                      </a:r>
                    </a:p>
                  </a:txBody>
                  <a:tcPr>
                    <a:solidFill>
                      <a:srgbClr val="F1F3F5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>
                        <a:defRPr sz="800">
                          <a:solidFill>
                            <a:srgbClr val="1A1A2E"/>
                          </a:solidFill>
                        </a:defRPr>
                      </a:pPr>
                      <a:r>
                        <a:t>BeFlexible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A1A2E"/>
                          </a:solidFill>
                        </a:defRPr>
                      </a:pPr>
                      <a:r>
                        <a:t>$17,597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A1A2E"/>
                          </a:solidFill>
                        </a:defRPr>
                      </a:pPr>
                      <a:r>
                        <a:t>$690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A1A2E"/>
                          </a:solidFill>
                        </a:defRPr>
                      </a:pPr>
                      <a:r>
                        <a:t>$16,418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A1A2E"/>
                          </a:solidFill>
                        </a:defRPr>
                      </a:pPr>
                      <a:r>
                        <a:t>3.9%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A1A2E"/>
                          </a:solidFill>
                        </a:defRPr>
                      </a:pPr>
                      <a:r>
                        <a:t>93.3%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A1A2E"/>
                          </a:solidFill>
                        </a:defRPr>
                      </a:pPr>
                      <a:r>
                        <a:t>Organic-Led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>
                        <a:defRPr sz="800">
                          <a:solidFill>
                            <a:srgbClr val="1A1A2E"/>
                          </a:solidFill>
                        </a:defRPr>
                      </a:pPr>
                      <a:r>
                        <a:t>AromaTru</a:t>
                      </a:r>
                    </a:p>
                  </a:txBody>
                  <a:tcPr>
                    <a:solidFill>
                      <a:srgbClr val="F1F3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A1A2E"/>
                          </a:solidFill>
                        </a:defRPr>
                      </a:pPr>
                      <a:r>
                        <a:t>$12,614</a:t>
                      </a:r>
                    </a:p>
                  </a:txBody>
                  <a:tcPr>
                    <a:solidFill>
                      <a:srgbClr val="F1F3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A1A2E"/>
                          </a:solidFill>
                        </a:defRPr>
                      </a:pPr>
                      <a:r>
                        <a:t>$7,129</a:t>
                      </a:r>
                    </a:p>
                  </a:txBody>
                  <a:tcPr>
                    <a:solidFill>
                      <a:srgbClr val="F1F3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A1A2E"/>
                          </a:solidFill>
                        </a:defRPr>
                      </a:pPr>
                      <a:r>
                        <a:t>$5,396</a:t>
                      </a:r>
                    </a:p>
                  </a:txBody>
                  <a:tcPr>
                    <a:solidFill>
                      <a:srgbClr val="F1F3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A1A2E"/>
                          </a:solidFill>
                        </a:defRPr>
                      </a:pPr>
                      <a:r>
                        <a:t>56.5%</a:t>
                      </a:r>
                    </a:p>
                  </a:txBody>
                  <a:tcPr>
                    <a:solidFill>
                      <a:srgbClr val="F1F3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A1A2E"/>
                          </a:solidFill>
                        </a:defRPr>
                      </a:pPr>
                      <a:r>
                        <a:t>42.8%</a:t>
                      </a:r>
                    </a:p>
                  </a:txBody>
                  <a:tcPr>
                    <a:solidFill>
                      <a:srgbClr val="F1F3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A1A2E"/>
                          </a:solidFill>
                        </a:defRPr>
                      </a:pPr>
                      <a:r>
                        <a:t>Ad-Heavy</a:t>
                      </a:r>
                    </a:p>
                  </a:txBody>
                  <a:tcPr>
                    <a:solidFill>
                      <a:srgbClr val="F1F3F5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>
                        <a:defRPr sz="800">
                          <a:solidFill>
                            <a:srgbClr val="1A1A2E"/>
                          </a:solidFill>
                        </a:defRPr>
                      </a:pPr>
                      <a:r>
                        <a:t>Perfect Omega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A1A2E"/>
                          </a:solidFill>
                        </a:defRPr>
                      </a:pPr>
                      <a:r>
                        <a:t>$809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A1A2E"/>
                          </a:solidFill>
                        </a:defRPr>
                      </a:pPr>
                      <a:r>
                        <a:t>$59.90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A1A2E"/>
                          </a:solidFill>
                        </a:defRPr>
                      </a:pPr>
                      <a:r>
                        <a:t>$749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A1A2E"/>
                          </a:solidFill>
                        </a:defRPr>
                      </a:pPr>
                      <a:r>
                        <a:t>7.4%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A1A2E"/>
                          </a:solidFill>
                        </a:defRPr>
                      </a:pPr>
                      <a:r>
                        <a:t>92.6%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A1A2E"/>
                          </a:solidFill>
                        </a:defRPr>
                      </a:pPr>
                      <a:r>
                        <a:t>Organic-Led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57200" y="484632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FF9900"/>
                </a:solidFill>
              </a:rPr>
              <a:t>Takeaways:</a:t>
            </a:r>
          </a:p>
          <a:p>
            <a:pPr>
              <a:spcBef>
                <a:spcPts val="200"/>
              </a:spcBef>
            </a:pPr>
            <a:r>
              <a:rPr sz="900">
                <a:solidFill>
                  <a:srgbClr val="4A4A5A"/>
                </a:solidFill>
              </a:rPr>
              <a:t>• Most brands are Organic-Led (65-93% organic) — strong underlying demand</a:t>
            </a:r>
          </a:p>
          <a:p>
            <a:pPr>
              <a:spcBef>
                <a:spcPts val="200"/>
              </a:spcBef>
            </a:pPr>
            <a:r>
              <a:rPr sz="900">
                <a:solidFill>
                  <a:srgbClr val="4A4A5A"/>
                </a:solidFill>
              </a:rPr>
              <a:t>• AromaTru is the only Ad-Heavy brand (56.5% ad revenue) — newer product building awareness</a:t>
            </a:r>
          </a:p>
          <a:p>
            <a:pPr>
              <a:spcBef>
                <a:spcPts val="200"/>
              </a:spcBef>
            </a:pPr>
            <a:r>
              <a:rPr sz="900">
                <a:solidFill>
                  <a:srgbClr val="4A4A5A"/>
                </a:solidFill>
              </a:rPr>
              <a:t>• Core brands (Prosvent, Better Bladder, Ideal Prostate) maintain ~30% ad / ~70% organic balance</a:t>
            </a:r>
          </a:p>
          <a:p>
            <a:pPr>
              <a:spcBef>
                <a:spcPts val="200"/>
              </a:spcBef>
            </a:pPr>
            <a:r>
              <a:rPr sz="900">
                <a:solidFill>
                  <a:srgbClr val="4A4A5A"/>
                </a:solidFill>
              </a:rPr>
              <a:t>• Opportunity: modest ad support for high-organic brands could accelerate growth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82296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FF9900"/>
                </a:solidFill>
              </a:defRPr>
            </a:pPr>
            <a:r>
              <a:t>2025 FULL YEAR PERFORMANCE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5720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A1A2E"/>
                </a:solidFill>
              </a:defRPr>
            </a:pPr>
            <a:r>
              <a:t>Weekly Trends — Revenue</a:t>
            </a:r>
          </a:p>
        </p:txBody>
      </p:sp>
      <p:pic>
        <p:nvPicPr>
          <p:cNvPr id="5" name="Picture 4" descr="weekly_revenu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914400"/>
            <a:ext cx="8229600" cy="39319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512064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FF9900"/>
                </a:solidFill>
              </a:rPr>
              <a:t>Takeaways:</a:t>
            </a:r>
          </a:p>
          <a:p>
            <a:pPr>
              <a:spcBef>
                <a:spcPts val="200"/>
              </a:spcBef>
            </a:pPr>
            <a:r>
              <a:rPr sz="900">
                <a:solidFill>
                  <a:srgbClr val="4A4A5A"/>
                </a:solidFill>
              </a:rPr>
              <a:t>• Peak revenue: 2025 - Week 1 at $75,479</a:t>
            </a:r>
          </a:p>
          <a:p>
            <a:pPr>
              <a:spcBef>
                <a:spcPts val="200"/>
              </a:spcBef>
            </a:pPr>
            <a:r>
              <a:rPr sz="900">
                <a:solidFill>
                  <a:srgbClr val="4A4A5A"/>
                </a:solidFill>
              </a:rPr>
              <a:t>• Low revenue: Previous Week at $43,849</a:t>
            </a:r>
          </a:p>
          <a:p>
            <a:pPr>
              <a:spcBef>
                <a:spcPts val="200"/>
              </a:spcBef>
            </a:pPr>
            <a:r>
              <a:rPr sz="900">
                <a:solidFill>
                  <a:srgbClr val="4A4A5A"/>
                </a:solidFill>
              </a:rPr>
              <a:t>• Q1 avg $69,356/wk vs Q4 avg $49,674/wk — gradual decline through the year</a:t>
            </a:r>
          </a:p>
          <a:p>
            <a:pPr>
              <a:spcBef>
                <a:spcPts val="200"/>
              </a:spcBef>
            </a:pPr>
            <a:r>
              <a:rPr sz="900">
                <a:solidFill>
                  <a:srgbClr val="4A4A5A"/>
                </a:solidFill>
              </a:rPr>
              <a:t>• Organic revenue consistently 60-70% of total, providing a stable revenue floor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82296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FF9900"/>
                </a:solidFill>
              </a:defRPr>
            </a:pPr>
            <a:r>
              <a:t>2025 FULL YEAR PERFORMANCE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5720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A1A2E"/>
                </a:solidFill>
              </a:defRPr>
            </a:pPr>
            <a:r>
              <a:t>Weekly Trends — Ad Spend</a:t>
            </a:r>
          </a:p>
        </p:txBody>
      </p:sp>
      <p:pic>
        <p:nvPicPr>
          <p:cNvPr id="5" name="Picture 4" descr="weekly_spe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914400"/>
            <a:ext cx="8229600" cy="39319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512064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FF9900"/>
                </a:solidFill>
              </a:rPr>
              <a:t>Takeaways:</a:t>
            </a:r>
          </a:p>
          <a:p>
            <a:pPr>
              <a:spcBef>
                <a:spcPts val="200"/>
              </a:spcBef>
            </a:pPr>
            <a:r>
              <a:rPr sz="900">
                <a:solidFill>
                  <a:srgbClr val="4A4A5A"/>
                </a:solidFill>
              </a:rPr>
              <a:t>• Total ad spend: $426,781 across 55 weeks</a:t>
            </a:r>
          </a:p>
          <a:p>
            <a:pPr>
              <a:spcBef>
                <a:spcPts val="200"/>
              </a:spcBef>
            </a:pPr>
            <a:r>
              <a:rPr sz="900">
                <a:solidFill>
                  <a:srgbClr val="4A4A5A"/>
                </a:solidFill>
              </a:rPr>
              <a:t>• Average weekly spend: $7,760 (range: $6,156 – $10,279)</a:t>
            </a:r>
          </a:p>
          <a:p>
            <a:pPr>
              <a:spcBef>
                <a:spcPts val="200"/>
              </a:spcBef>
            </a:pPr>
            <a:r>
              <a:rPr sz="900">
                <a:solidFill>
                  <a:srgbClr val="4A4A5A"/>
                </a:solidFill>
              </a:rPr>
              <a:t>• Peak spend: 2025 - Week 8 at $10,279</a:t>
            </a:r>
          </a:p>
          <a:p>
            <a:pPr>
              <a:spcBef>
                <a:spcPts val="200"/>
              </a:spcBef>
            </a:pPr>
            <a:r>
              <a:rPr sz="900">
                <a:solidFill>
                  <a:srgbClr val="4A4A5A"/>
                </a:solidFill>
              </a:rPr>
              <a:t>• Spend consistent at $6K-$10K/wk with slight Q4 holiday uptick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82296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FF9900"/>
                </a:solidFill>
              </a:defRPr>
            </a:pPr>
            <a:r>
              <a:t>2025 FULL YEAR PERFORMANCE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5720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A1A2E"/>
                </a:solidFill>
              </a:defRPr>
            </a:pPr>
            <a:r>
              <a:t>Weekly Trends — ROAS</a:t>
            </a:r>
          </a:p>
        </p:txBody>
      </p:sp>
      <p:pic>
        <p:nvPicPr>
          <p:cNvPr id="5" name="Picture 4" descr="weekly_roa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914400"/>
            <a:ext cx="8229600" cy="39319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512064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FF9900"/>
                </a:solidFill>
              </a:rPr>
              <a:t>Takeaways:</a:t>
            </a:r>
          </a:p>
          <a:p>
            <a:pPr>
              <a:spcBef>
                <a:spcPts val="200"/>
              </a:spcBef>
            </a:pPr>
            <a:r>
              <a:rPr sz="900">
                <a:solidFill>
                  <a:srgbClr val="4A4A5A"/>
                </a:solidFill>
              </a:rPr>
              <a:t>• Average weekly ROAS: 2.34x</a:t>
            </a:r>
          </a:p>
          <a:p>
            <a:pPr>
              <a:spcBef>
                <a:spcPts val="200"/>
              </a:spcBef>
            </a:pPr>
            <a:r>
              <a:rPr sz="900">
                <a:solidFill>
                  <a:srgbClr val="4A4A5A"/>
                </a:solidFill>
              </a:rPr>
              <a:t>• ROAS range: 1.73x – 3.13x</a:t>
            </a:r>
          </a:p>
          <a:p>
            <a:pPr>
              <a:spcBef>
                <a:spcPts val="200"/>
              </a:spcBef>
            </a:pPr>
            <a:r>
              <a:rPr sz="900">
                <a:solidFill>
                  <a:srgbClr val="4A4A5A"/>
                </a:solidFill>
              </a:rPr>
              <a:t>• Q1 ROAS averaged ~2.5x vs Q4 ~2.0x — declining efficiency as traffic softened</a:t>
            </a:r>
          </a:p>
          <a:p>
            <a:pPr>
              <a:spcBef>
                <a:spcPts val="200"/>
              </a:spcBef>
            </a:pPr>
            <a:r>
              <a:rPr sz="900">
                <a:solidFill>
                  <a:srgbClr val="4A4A5A"/>
                </a:solidFill>
              </a:rPr>
              <a:t>• ROAS remained profitable (&gt;1.7x) throughout the entire year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82296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FF9900"/>
                </a:solidFill>
              </a:defRPr>
            </a:pPr>
            <a:r>
              <a:t>2025 FULL YEAR PERFORMANCE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5720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A1A2E"/>
                </a:solidFill>
              </a:defRPr>
            </a:pPr>
            <a:r>
              <a:t>Revenue &amp; Ad Spend Distribution by Brand</a:t>
            </a:r>
          </a:p>
        </p:txBody>
      </p:sp>
      <p:pic>
        <p:nvPicPr>
          <p:cNvPr id="5" name="Picture 4" descr="pie_revenu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" y="914400"/>
            <a:ext cx="4480560" cy="3840480"/>
          </a:xfrm>
          <a:prstGeom prst="rect">
            <a:avLst/>
          </a:prstGeom>
        </p:spPr>
      </p:pic>
      <p:pic>
        <p:nvPicPr>
          <p:cNvPr id="6" name="Picture 5" descr="pie_spen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0" y="914400"/>
            <a:ext cx="4480560" cy="384048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502920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FF9900"/>
                </a:solidFill>
              </a:rPr>
              <a:t>Takeaways:</a:t>
            </a:r>
          </a:p>
          <a:p>
            <a:pPr>
              <a:spcBef>
                <a:spcPts val="200"/>
              </a:spcBef>
            </a:pPr>
            <a:r>
              <a:rPr sz="900">
                <a:solidFill>
                  <a:srgbClr val="4A4A5A"/>
                </a:solidFill>
              </a:rPr>
              <a:t>• Prosvent dominates revenue (55.7%) and ad spend (57.3%)</a:t>
            </a:r>
          </a:p>
          <a:p>
            <a:pPr>
              <a:spcBef>
                <a:spcPts val="200"/>
              </a:spcBef>
            </a:pPr>
            <a:r>
              <a:rPr sz="900">
                <a:solidFill>
                  <a:srgbClr val="4A4A5A"/>
                </a:solidFill>
              </a:rPr>
              <a:t>• Top 3 brands account for 95.1% of revenue</a:t>
            </a:r>
          </a:p>
          <a:p>
            <a:pPr>
              <a:spcBef>
                <a:spcPts val="200"/>
              </a:spcBef>
            </a:pPr>
            <a:r>
              <a:rPr sz="900">
                <a:solidFill>
                  <a:srgbClr val="4A4A5A"/>
                </a:solidFill>
              </a:rPr>
              <a:t>• Revenue and spend distributions are well-aligned — no brand over-spending vs revenue share</a:t>
            </a:r>
          </a:p>
          <a:p>
            <a:pPr>
              <a:spcBef>
                <a:spcPts val="200"/>
              </a:spcBef>
            </a:pPr>
            <a:r>
              <a:rPr sz="900">
                <a:solidFill>
                  <a:srgbClr val="4A4A5A"/>
                </a:solidFill>
              </a:rPr>
              <a:t>• Long tail brands (Cebria, BeFlexible, Perfect Omega) contribute &lt;2% each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82296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FF9900"/>
                </a:solidFill>
              </a:defRPr>
            </a:pPr>
            <a:r>
              <a:t>2025 FULL YEAR PERFORMANCE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5720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A1A2E"/>
                </a:solidFill>
              </a:defRPr>
            </a:pPr>
            <a:r>
              <a:t>Brand Efficiency — ROAS, ACoS &amp; TACoS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182880" y="1005840"/>
          <a:ext cx="7589520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80160"/>
                <a:gridCol w="1005840"/>
                <a:gridCol w="1005840"/>
                <a:gridCol w="822960"/>
                <a:gridCol w="822960"/>
                <a:gridCol w="822960"/>
                <a:gridCol w="1188720"/>
                <a:gridCol w="640080"/>
              </a:tblGrid>
              <a:tr h="320040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Brand</a:t>
                      </a:r>
                    </a:p>
                  </a:txBody>
                  <a:tcPr>
                    <a:solidFill>
                      <a:srgbClr val="232F3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Ad Spend</a:t>
                      </a:r>
                    </a:p>
                  </a:txBody>
                  <a:tcPr>
                    <a:solidFill>
                      <a:srgbClr val="232F3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Ad Sales</a:t>
                      </a:r>
                    </a:p>
                  </a:txBody>
                  <a:tcPr>
                    <a:solidFill>
                      <a:srgbClr val="232F3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ROAS</a:t>
                      </a:r>
                    </a:p>
                  </a:txBody>
                  <a:tcPr>
                    <a:solidFill>
                      <a:srgbClr val="232F3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ACoS</a:t>
                      </a:r>
                    </a:p>
                  </a:txBody>
                  <a:tcPr>
                    <a:solidFill>
                      <a:srgbClr val="232F3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TACoS</a:t>
                      </a:r>
                    </a:p>
                  </a:txBody>
                  <a:tcPr>
                    <a:solidFill>
                      <a:srgbClr val="232F3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Impressions</a:t>
                      </a:r>
                    </a:p>
                  </a:txBody>
                  <a:tcPr>
                    <a:solidFill>
                      <a:srgbClr val="232F3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Rating</a:t>
                      </a:r>
                    </a:p>
                  </a:txBody>
                  <a:tcPr>
                    <a:solidFill>
                      <a:srgbClr val="232F3E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>
                        <a:defRPr sz="800">
                          <a:solidFill>
                            <a:srgbClr val="1A1A2E"/>
                          </a:solidFill>
                        </a:defRPr>
                      </a:pPr>
                      <a:r>
                        <a:t>Prosvent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A1A2E"/>
                          </a:solidFill>
                        </a:defRPr>
                      </a:pPr>
                      <a:r>
                        <a:t>$244,591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A1A2E"/>
                          </a:solidFill>
                        </a:defRPr>
                      </a:pPr>
                      <a:r>
                        <a:t>$565,908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A1A2E"/>
                          </a:solidFill>
                        </a:defRPr>
                      </a:pPr>
                      <a:r>
                        <a:t>2.31x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A1A2E"/>
                          </a:solidFill>
                        </a:defRPr>
                      </a:pPr>
                      <a:r>
                        <a:t>43.2%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A1A2E"/>
                          </a:solidFill>
                        </a:defRPr>
                      </a:pPr>
                      <a:r>
                        <a:t>13.8%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A1A2E"/>
                          </a:solidFill>
                        </a:defRPr>
                      </a:pPr>
                      <a:r>
                        <a:t>21,013,243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A1A2E"/>
                          </a:solidFill>
                        </a:defRPr>
                      </a:pPr>
                      <a:r>
                        <a:t>★★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>
                        <a:defRPr sz="800">
                          <a:solidFill>
                            <a:srgbClr val="1A1A2E"/>
                          </a:solidFill>
                        </a:defRPr>
                      </a:pPr>
                      <a:r>
                        <a:t>Better Bladder</a:t>
                      </a:r>
                    </a:p>
                  </a:txBody>
                  <a:tcPr>
                    <a:solidFill>
                      <a:srgbClr val="F1F3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A1A2E"/>
                          </a:solidFill>
                        </a:defRPr>
                      </a:pPr>
                      <a:r>
                        <a:t>$80,854</a:t>
                      </a:r>
                    </a:p>
                  </a:txBody>
                  <a:tcPr>
                    <a:solidFill>
                      <a:srgbClr val="F1F3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A1A2E"/>
                          </a:solidFill>
                        </a:defRPr>
                      </a:pPr>
                      <a:r>
                        <a:t>$200,815</a:t>
                      </a:r>
                    </a:p>
                  </a:txBody>
                  <a:tcPr>
                    <a:solidFill>
                      <a:srgbClr val="F1F3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A1A2E"/>
                          </a:solidFill>
                        </a:defRPr>
                      </a:pPr>
                      <a:r>
                        <a:t>2.48x</a:t>
                      </a:r>
                    </a:p>
                  </a:txBody>
                  <a:tcPr>
                    <a:solidFill>
                      <a:srgbClr val="F1F3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A1A2E"/>
                          </a:solidFill>
                        </a:defRPr>
                      </a:pPr>
                      <a:r>
                        <a:t>40.3%</a:t>
                      </a:r>
                    </a:p>
                  </a:txBody>
                  <a:tcPr>
                    <a:solidFill>
                      <a:srgbClr val="F1F3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A1A2E"/>
                          </a:solidFill>
                        </a:defRPr>
                      </a:pPr>
                      <a:r>
                        <a:t>12.3%</a:t>
                      </a:r>
                    </a:p>
                  </a:txBody>
                  <a:tcPr>
                    <a:solidFill>
                      <a:srgbClr val="F1F3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A1A2E"/>
                          </a:solidFill>
                        </a:defRPr>
                      </a:pPr>
                      <a:r>
                        <a:t>7,652,320</a:t>
                      </a:r>
                    </a:p>
                  </a:txBody>
                  <a:tcPr>
                    <a:solidFill>
                      <a:srgbClr val="F1F3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A1A2E"/>
                          </a:solidFill>
                        </a:defRPr>
                      </a:pPr>
                      <a:r>
                        <a:t>★★</a:t>
                      </a:r>
                    </a:p>
                  </a:txBody>
                  <a:tcPr>
                    <a:solidFill>
                      <a:srgbClr val="F1F3F5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>
                        <a:defRPr sz="800">
                          <a:solidFill>
                            <a:srgbClr val="1A1A2E"/>
                          </a:solidFill>
                        </a:defRPr>
                      </a:pPr>
                      <a:r>
                        <a:t>Ideal Prostate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A1A2E"/>
                          </a:solidFill>
                        </a:defRPr>
                      </a:pPr>
                      <a:r>
                        <a:t>$80,198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A1A2E"/>
                          </a:solidFill>
                        </a:defRPr>
                      </a:pPr>
                      <a:r>
                        <a:t>$192,396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A1A2E"/>
                          </a:solidFill>
                        </a:defRPr>
                      </a:pPr>
                      <a:r>
                        <a:t>2.40x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A1A2E"/>
                          </a:solidFill>
                        </a:defRPr>
                      </a:pPr>
                      <a:r>
                        <a:t>41.7%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A1A2E"/>
                          </a:solidFill>
                        </a:defRPr>
                      </a:pPr>
                      <a:r>
                        <a:t>13.3%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A1A2E"/>
                          </a:solidFill>
                        </a:defRPr>
                      </a:pPr>
                      <a:r>
                        <a:t>11,245,716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A1A2E"/>
                          </a:solidFill>
                        </a:defRPr>
                      </a:pPr>
                      <a:r>
                        <a:t>★★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>
                        <a:defRPr sz="800">
                          <a:solidFill>
                            <a:srgbClr val="1A1A2E"/>
                          </a:solidFill>
                        </a:defRPr>
                      </a:pPr>
                      <a:r>
                        <a:t>Cebria</a:t>
                      </a:r>
                    </a:p>
                  </a:txBody>
                  <a:tcPr>
                    <a:solidFill>
                      <a:srgbClr val="F1F3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A1A2E"/>
                          </a:solidFill>
                        </a:defRPr>
                      </a:pPr>
                      <a:r>
                        <a:t>$6,868</a:t>
                      </a:r>
                    </a:p>
                  </a:txBody>
                  <a:tcPr>
                    <a:solidFill>
                      <a:srgbClr val="F1F3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A1A2E"/>
                          </a:solidFill>
                        </a:defRPr>
                      </a:pPr>
                      <a:r>
                        <a:t>$8,526</a:t>
                      </a:r>
                    </a:p>
                  </a:txBody>
                  <a:tcPr>
                    <a:solidFill>
                      <a:srgbClr val="F1F3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A1A2E"/>
                          </a:solidFill>
                        </a:defRPr>
                      </a:pPr>
                      <a:r>
                        <a:t>1.24x</a:t>
                      </a:r>
                    </a:p>
                  </a:txBody>
                  <a:tcPr>
                    <a:solidFill>
                      <a:srgbClr val="F1F3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A1A2E"/>
                          </a:solidFill>
                        </a:defRPr>
                      </a:pPr>
                      <a:r>
                        <a:t>80.6%</a:t>
                      </a:r>
                    </a:p>
                  </a:txBody>
                  <a:tcPr>
                    <a:solidFill>
                      <a:srgbClr val="F1F3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A1A2E"/>
                          </a:solidFill>
                        </a:defRPr>
                      </a:pPr>
                      <a:r>
                        <a:t>12.9%</a:t>
                      </a:r>
                    </a:p>
                  </a:txBody>
                  <a:tcPr>
                    <a:solidFill>
                      <a:srgbClr val="F1F3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A1A2E"/>
                          </a:solidFill>
                        </a:defRPr>
                      </a:pPr>
                      <a:r>
                        <a:t>2,067,657</a:t>
                      </a:r>
                    </a:p>
                  </a:txBody>
                  <a:tcPr>
                    <a:solidFill>
                      <a:srgbClr val="F1F3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A1A2E"/>
                          </a:solidFill>
                        </a:defRPr>
                      </a:pPr>
                      <a:r>
                        <a:t>★</a:t>
                      </a:r>
                    </a:p>
                  </a:txBody>
                  <a:tcPr>
                    <a:solidFill>
                      <a:srgbClr val="F1F3F5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>
                        <a:defRPr sz="800">
                          <a:solidFill>
                            <a:srgbClr val="1A1A2E"/>
                          </a:solidFill>
                        </a:defRPr>
                      </a:pPr>
                      <a:r>
                        <a:t>Grown American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A1A2E"/>
                          </a:solidFill>
                        </a:defRPr>
                      </a:pPr>
                      <a:r>
                        <a:t>$4,222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A1A2E"/>
                          </a:solidFill>
                        </a:defRPr>
                      </a:pPr>
                      <a:r>
                        <a:t>$12,983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A1A2E"/>
                          </a:solidFill>
                        </a:defRPr>
                      </a:pPr>
                      <a:r>
                        <a:t>3.08x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A1A2E"/>
                          </a:solidFill>
                        </a:defRPr>
                      </a:pPr>
                      <a:r>
                        <a:t>32.5%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A1A2E"/>
                          </a:solidFill>
                        </a:defRPr>
                      </a:pPr>
                      <a:r>
                        <a:t>9.6%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A1A2E"/>
                          </a:solidFill>
                        </a:defRPr>
                      </a:pPr>
                      <a:r>
                        <a:t>433,223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A1A2E"/>
                          </a:solidFill>
                        </a:defRPr>
                      </a:pPr>
                      <a:r>
                        <a:t>★★★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>
                        <a:defRPr sz="800">
                          <a:solidFill>
                            <a:srgbClr val="1A1A2E"/>
                          </a:solidFill>
                        </a:defRPr>
                      </a:pPr>
                      <a:r>
                        <a:t>Profemin</a:t>
                      </a:r>
                    </a:p>
                  </a:txBody>
                  <a:tcPr>
                    <a:solidFill>
                      <a:srgbClr val="F1F3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A1A2E"/>
                          </a:solidFill>
                        </a:defRPr>
                      </a:pPr>
                      <a:r>
                        <a:t>$3,609</a:t>
                      </a:r>
                    </a:p>
                  </a:txBody>
                  <a:tcPr>
                    <a:solidFill>
                      <a:srgbClr val="F1F3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A1A2E"/>
                          </a:solidFill>
                        </a:defRPr>
                      </a:pPr>
                      <a:r>
                        <a:t>$3,187</a:t>
                      </a:r>
                    </a:p>
                  </a:txBody>
                  <a:tcPr>
                    <a:solidFill>
                      <a:srgbClr val="F1F3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A1A2E"/>
                          </a:solidFill>
                        </a:defRPr>
                      </a:pPr>
                      <a:r>
                        <a:t>0.88x</a:t>
                      </a:r>
                    </a:p>
                  </a:txBody>
                  <a:tcPr>
                    <a:solidFill>
                      <a:srgbClr val="F1F3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A1A2E"/>
                          </a:solidFill>
                        </a:defRPr>
                      </a:pPr>
                      <a:r>
                        <a:t>113.2%</a:t>
                      </a:r>
                    </a:p>
                  </a:txBody>
                  <a:tcPr>
                    <a:solidFill>
                      <a:srgbClr val="F1F3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A1A2E"/>
                          </a:solidFill>
                        </a:defRPr>
                      </a:pPr>
                      <a:r>
                        <a:t>12.5%</a:t>
                      </a:r>
                    </a:p>
                  </a:txBody>
                  <a:tcPr>
                    <a:solidFill>
                      <a:srgbClr val="F1F3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A1A2E"/>
                          </a:solidFill>
                        </a:defRPr>
                      </a:pPr>
                      <a:r>
                        <a:t>619,074</a:t>
                      </a:r>
                    </a:p>
                  </a:txBody>
                  <a:tcPr>
                    <a:solidFill>
                      <a:srgbClr val="F1F3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A1A2E"/>
                          </a:solidFill>
                        </a:defRPr>
                      </a:pPr>
                      <a:r>
                        <a:t>▼</a:t>
                      </a:r>
                    </a:p>
                  </a:txBody>
                  <a:tcPr>
                    <a:solidFill>
                      <a:srgbClr val="F1F3F5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>
                        <a:defRPr sz="800">
                          <a:solidFill>
                            <a:srgbClr val="1A1A2E"/>
                          </a:solidFill>
                        </a:defRPr>
                      </a:pPr>
                      <a:r>
                        <a:t>BeFlexible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A1A2E"/>
                          </a:solidFill>
                        </a:defRPr>
                      </a:pPr>
                      <a:r>
                        <a:t>$687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A1A2E"/>
                          </a:solidFill>
                        </a:defRPr>
                      </a:pPr>
                      <a:r>
                        <a:t>$690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A1A2E"/>
                          </a:solidFill>
                        </a:defRPr>
                      </a:pPr>
                      <a:r>
                        <a:t>1.00x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A1A2E"/>
                          </a:solidFill>
                        </a:defRPr>
                      </a:pPr>
                      <a:r>
                        <a:t>99.7%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A1A2E"/>
                          </a:solidFill>
                        </a:defRPr>
                      </a:pPr>
                      <a:r>
                        <a:t>3.9%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A1A2E"/>
                          </a:solidFill>
                        </a:defRPr>
                      </a:pPr>
                      <a:r>
                        <a:t>91,974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A1A2E"/>
                          </a:solidFill>
                        </a:defRPr>
                      </a:pPr>
                      <a:r>
                        <a:t>★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>
                        <a:defRPr sz="800">
                          <a:solidFill>
                            <a:srgbClr val="1A1A2E"/>
                          </a:solidFill>
                        </a:defRPr>
                      </a:pPr>
                      <a:r>
                        <a:t>AromaTru</a:t>
                      </a:r>
                    </a:p>
                  </a:txBody>
                  <a:tcPr>
                    <a:solidFill>
                      <a:srgbClr val="F1F3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A1A2E"/>
                          </a:solidFill>
                        </a:defRPr>
                      </a:pPr>
                      <a:r>
                        <a:t>$5,709</a:t>
                      </a:r>
                    </a:p>
                  </a:txBody>
                  <a:tcPr>
                    <a:solidFill>
                      <a:srgbClr val="F1F3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A1A2E"/>
                          </a:solidFill>
                        </a:defRPr>
                      </a:pPr>
                      <a:r>
                        <a:t>$7,129</a:t>
                      </a:r>
                    </a:p>
                  </a:txBody>
                  <a:tcPr>
                    <a:solidFill>
                      <a:srgbClr val="F1F3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A1A2E"/>
                          </a:solidFill>
                        </a:defRPr>
                      </a:pPr>
                      <a:r>
                        <a:t>1.25x</a:t>
                      </a:r>
                    </a:p>
                  </a:txBody>
                  <a:tcPr>
                    <a:solidFill>
                      <a:srgbClr val="F1F3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A1A2E"/>
                          </a:solidFill>
                        </a:defRPr>
                      </a:pPr>
                      <a:r>
                        <a:t>80.1%</a:t>
                      </a:r>
                    </a:p>
                  </a:txBody>
                  <a:tcPr>
                    <a:solidFill>
                      <a:srgbClr val="F1F3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A1A2E"/>
                          </a:solidFill>
                        </a:defRPr>
                      </a:pPr>
                      <a:r>
                        <a:t>45.3%</a:t>
                      </a:r>
                    </a:p>
                  </a:txBody>
                  <a:tcPr>
                    <a:solidFill>
                      <a:srgbClr val="F1F3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A1A2E"/>
                          </a:solidFill>
                        </a:defRPr>
                      </a:pPr>
                      <a:r>
                        <a:t>1,548,768</a:t>
                      </a:r>
                    </a:p>
                  </a:txBody>
                  <a:tcPr>
                    <a:solidFill>
                      <a:srgbClr val="F1F3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A1A2E"/>
                          </a:solidFill>
                        </a:defRPr>
                      </a:pPr>
                      <a:r>
                        <a:t>★</a:t>
                      </a:r>
                    </a:p>
                  </a:txBody>
                  <a:tcPr>
                    <a:solidFill>
                      <a:srgbClr val="F1F3F5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>
                        <a:defRPr sz="800">
                          <a:solidFill>
                            <a:srgbClr val="1A1A2E"/>
                          </a:solidFill>
                        </a:defRPr>
                      </a:pPr>
                      <a:r>
                        <a:t>Perfect Omega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A1A2E"/>
                          </a:solidFill>
                        </a:defRPr>
                      </a:pPr>
                      <a:r>
                        <a:t>$43.89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A1A2E"/>
                          </a:solidFill>
                        </a:defRPr>
                      </a:pPr>
                      <a:r>
                        <a:t>$59.90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A1A2E"/>
                          </a:solidFill>
                        </a:defRPr>
                      </a:pPr>
                      <a:r>
                        <a:t>1.36x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A1A2E"/>
                          </a:solidFill>
                        </a:defRPr>
                      </a:pPr>
                      <a:r>
                        <a:t>73.3%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A1A2E"/>
                          </a:solidFill>
                        </a:defRPr>
                      </a:pPr>
                      <a:r>
                        <a:t>5.4%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A1A2E"/>
                          </a:solidFill>
                        </a:defRPr>
                      </a:pPr>
                      <a:r>
                        <a:t>36,576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A1A2E"/>
                          </a:solidFill>
                        </a:defRPr>
                      </a:pPr>
                      <a:r>
                        <a:t>★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57200" y="457200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FF9900"/>
                </a:solidFill>
              </a:rPr>
              <a:t>Takeaways:</a:t>
            </a:r>
          </a:p>
          <a:p>
            <a:pPr>
              <a:spcBef>
                <a:spcPts val="200"/>
              </a:spcBef>
            </a:pPr>
            <a:r>
              <a:rPr sz="900">
                <a:solidFill>
                  <a:srgbClr val="4A4A5A"/>
                </a:solidFill>
              </a:rPr>
              <a:t>• Highest ROAS: Grown American at 3.08x</a:t>
            </a:r>
          </a:p>
          <a:p>
            <a:pPr>
              <a:spcBef>
                <a:spcPts val="200"/>
              </a:spcBef>
            </a:pPr>
            <a:r>
              <a:rPr sz="900">
                <a:solidFill>
                  <a:srgbClr val="4A4A5A"/>
                </a:solidFill>
              </a:rPr>
              <a:t>• Lowest ROAS (meaningful spend): Profemin at 0.88x</a:t>
            </a:r>
          </a:p>
          <a:p>
            <a:pPr>
              <a:spcBef>
                <a:spcPts val="200"/>
              </a:spcBef>
            </a:pPr>
            <a:r>
              <a:rPr sz="900">
                <a:solidFill>
                  <a:srgbClr val="4A4A5A"/>
                </a:solidFill>
              </a:rPr>
              <a:t>• Prosvent spends $244,591 but maintains 2.31x ROAS at scale</a:t>
            </a:r>
          </a:p>
          <a:p>
            <a:pPr>
              <a:spcBef>
                <a:spcPts val="200"/>
              </a:spcBef>
            </a:pPr>
            <a:r>
              <a:rPr sz="900">
                <a:solidFill>
                  <a:srgbClr val="4A4A5A"/>
                </a:solidFill>
              </a:rPr>
              <a:t>• TACoS across portfolio is 3-45% — most brands well under 15%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82296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FF9900"/>
                </a:solidFill>
              </a:defRPr>
            </a:pPr>
            <a:r>
              <a:t>2025 FULL YEAR PERFORMANCE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5720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A1A2E"/>
                </a:solidFill>
              </a:defRPr>
            </a:pPr>
            <a:r>
              <a:t>Revenue vs Ad Spend by Brand</a:t>
            </a:r>
          </a:p>
        </p:txBody>
      </p:sp>
      <p:pic>
        <p:nvPicPr>
          <p:cNvPr id="5" name="Picture 4" descr="rev_vs_spe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914400"/>
            <a:ext cx="8229600" cy="41148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530352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FF9900"/>
                </a:solidFill>
              </a:rPr>
              <a:t>Takeaways:</a:t>
            </a:r>
          </a:p>
          <a:p>
            <a:pPr>
              <a:spcBef>
                <a:spcPts val="200"/>
              </a:spcBef>
            </a:pPr>
            <a:r>
              <a:rPr sz="900">
                <a:solidFill>
                  <a:srgbClr val="4A4A5A"/>
                </a:solidFill>
              </a:rPr>
              <a:t>• Revenue-to-spend leverage is massive across all brands</a:t>
            </a:r>
          </a:p>
          <a:p>
            <a:pPr>
              <a:spcBef>
                <a:spcPts val="200"/>
              </a:spcBef>
            </a:pPr>
            <a:r>
              <a:rPr sz="900">
                <a:solidFill>
                  <a:srgbClr val="4A4A5A"/>
                </a:solidFill>
              </a:rPr>
              <a:t>• Prosvent: $1,777,284 revenue on $244,591 spend</a:t>
            </a:r>
          </a:p>
          <a:p>
            <a:pPr>
              <a:spcBef>
                <a:spcPts val="200"/>
              </a:spcBef>
            </a:pPr>
            <a:r>
              <a:rPr sz="900">
                <a:solidFill>
                  <a:srgbClr val="4A4A5A"/>
                </a:solidFill>
              </a:rPr>
              <a:t>• All brands generate positive revenue relative to their ad investment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82296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FF9900"/>
                </a:solidFill>
              </a:defRPr>
            </a:pPr>
            <a:r>
              <a:t>2025 FULL YEAR PERFORMANCE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5720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A1A2E"/>
                </a:solidFill>
              </a:defRPr>
            </a:pPr>
            <a:r>
              <a:t>Quarterly Performance Comparison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182880" y="1005840"/>
          <a:ext cx="758952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40080"/>
                <a:gridCol w="1097280"/>
                <a:gridCol w="731520"/>
                <a:gridCol w="914400"/>
                <a:gridCol w="1005840"/>
                <a:gridCol w="1005840"/>
                <a:gridCol w="731520"/>
                <a:gridCol w="731520"/>
                <a:gridCol w="731520"/>
              </a:tblGrid>
              <a:tr h="365760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Quarter</a:t>
                      </a:r>
                    </a:p>
                  </a:txBody>
                  <a:tcPr>
                    <a:solidFill>
                      <a:srgbClr val="232F3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Revenue</a:t>
                      </a:r>
                    </a:p>
                  </a:txBody>
                  <a:tcPr>
                    <a:solidFill>
                      <a:srgbClr val="232F3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Units</a:t>
                      </a:r>
                    </a:p>
                  </a:txBody>
                  <a:tcPr>
                    <a:solidFill>
                      <a:srgbClr val="232F3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Ad Spend</a:t>
                      </a:r>
                    </a:p>
                  </a:txBody>
                  <a:tcPr>
                    <a:solidFill>
                      <a:srgbClr val="232F3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Ad Sales</a:t>
                      </a:r>
                    </a:p>
                  </a:txBody>
                  <a:tcPr>
                    <a:solidFill>
                      <a:srgbClr val="232F3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Organic</a:t>
                      </a:r>
                    </a:p>
                  </a:txBody>
                  <a:tcPr>
                    <a:solidFill>
                      <a:srgbClr val="232F3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ROAS</a:t>
                      </a:r>
                    </a:p>
                  </a:txBody>
                  <a:tcPr>
                    <a:solidFill>
                      <a:srgbClr val="232F3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ACoS</a:t>
                      </a:r>
                    </a:p>
                  </a:txBody>
                  <a:tcPr>
                    <a:solidFill>
                      <a:srgbClr val="232F3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TACoS</a:t>
                      </a:r>
                    </a:p>
                  </a:txBody>
                  <a:tcPr>
                    <a:solidFill>
                      <a:srgbClr val="232F3E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800">
                          <a:solidFill>
                            <a:srgbClr val="1A1A2E"/>
                          </a:solidFill>
                        </a:defRPr>
                      </a:pPr>
                      <a:r>
                        <a:t>Q1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A1A2E"/>
                          </a:solidFill>
                        </a:defRPr>
                      </a:pPr>
                      <a:r>
                        <a:t>$880,958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A1A2E"/>
                          </a:solidFill>
                        </a:defRPr>
                      </a:pPr>
                      <a:r>
                        <a:t>14,650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A1A2E"/>
                          </a:solidFill>
                        </a:defRPr>
                      </a:pPr>
                      <a:r>
                        <a:t>$112,778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A1A2E"/>
                          </a:solidFill>
                        </a:defRPr>
                      </a:pPr>
                      <a:r>
                        <a:t>$271,224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A1A2E"/>
                          </a:solidFill>
                        </a:defRPr>
                      </a:pPr>
                      <a:r>
                        <a:t>$568,361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A1A2E"/>
                          </a:solidFill>
                        </a:defRPr>
                      </a:pPr>
                      <a:r>
                        <a:t>2.40x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A1A2E"/>
                          </a:solidFill>
                        </a:defRPr>
                      </a:pPr>
                      <a:r>
                        <a:t>41.6%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A1A2E"/>
                          </a:solidFill>
                        </a:defRPr>
                      </a:pPr>
                      <a:r>
                        <a:t>12.8%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800">
                          <a:solidFill>
                            <a:srgbClr val="1A1A2E"/>
                          </a:solidFill>
                        </a:defRPr>
                      </a:pPr>
                      <a:r>
                        <a:t>Q2</a:t>
                      </a:r>
                    </a:p>
                  </a:txBody>
                  <a:tcPr>
                    <a:solidFill>
                      <a:srgbClr val="F1F3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A1A2E"/>
                          </a:solidFill>
                        </a:defRPr>
                      </a:pPr>
                      <a:r>
                        <a:t>$788,119</a:t>
                      </a:r>
                    </a:p>
                  </a:txBody>
                  <a:tcPr>
                    <a:solidFill>
                      <a:srgbClr val="F1F3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A1A2E"/>
                          </a:solidFill>
                        </a:defRPr>
                      </a:pPr>
                      <a:r>
                        <a:t>13,093</a:t>
                      </a:r>
                    </a:p>
                  </a:txBody>
                  <a:tcPr>
                    <a:solidFill>
                      <a:srgbClr val="F1F3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A1A2E"/>
                          </a:solidFill>
                        </a:defRPr>
                      </a:pPr>
                      <a:r>
                        <a:t>$101,588</a:t>
                      </a:r>
                    </a:p>
                  </a:txBody>
                  <a:tcPr>
                    <a:solidFill>
                      <a:srgbClr val="F1F3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A1A2E"/>
                          </a:solidFill>
                        </a:defRPr>
                      </a:pPr>
                      <a:r>
                        <a:t>$232,931</a:t>
                      </a:r>
                    </a:p>
                  </a:txBody>
                  <a:tcPr>
                    <a:solidFill>
                      <a:srgbClr val="F1F3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A1A2E"/>
                          </a:solidFill>
                        </a:defRPr>
                      </a:pPr>
                      <a:r>
                        <a:t>$512,430</a:t>
                      </a:r>
                    </a:p>
                  </a:txBody>
                  <a:tcPr>
                    <a:solidFill>
                      <a:srgbClr val="F1F3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A1A2E"/>
                          </a:solidFill>
                        </a:defRPr>
                      </a:pPr>
                      <a:r>
                        <a:t>2.29x</a:t>
                      </a:r>
                    </a:p>
                  </a:txBody>
                  <a:tcPr>
                    <a:solidFill>
                      <a:srgbClr val="F1F3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A1A2E"/>
                          </a:solidFill>
                        </a:defRPr>
                      </a:pPr>
                      <a:r>
                        <a:t>43.6%</a:t>
                      </a:r>
                    </a:p>
                  </a:txBody>
                  <a:tcPr>
                    <a:solidFill>
                      <a:srgbClr val="F1F3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A1A2E"/>
                          </a:solidFill>
                        </a:defRPr>
                      </a:pPr>
                      <a:r>
                        <a:t>12.9%</a:t>
                      </a:r>
                    </a:p>
                  </a:txBody>
                  <a:tcPr>
                    <a:solidFill>
                      <a:srgbClr val="F1F3F5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800">
                          <a:solidFill>
                            <a:srgbClr val="1A1A2E"/>
                          </a:solidFill>
                        </a:defRPr>
                      </a:pPr>
                      <a:r>
                        <a:t>Q3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A1A2E"/>
                          </a:solidFill>
                        </a:defRPr>
                      </a:pPr>
                      <a:r>
                        <a:t>$689,369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A1A2E"/>
                          </a:solidFill>
                        </a:defRPr>
                      </a:pPr>
                      <a:r>
                        <a:t>11,345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A1A2E"/>
                          </a:solidFill>
                        </a:defRPr>
                      </a:pPr>
                      <a:r>
                        <a:t>$89,130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A1A2E"/>
                          </a:solidFill>
                        </a:defRPr>
                      </a:pPr>
                      <a:r>
                        <a:t>$220,206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A1A2E"/>
                          </a:solidFill>
                        </a:defRPr>
                      </a:pPr>
                      <a:r>
                        <a:t>$432,995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A1A2E"/>
                          </a:solidFill>
                        </a:defRPr>
                      </a:pPr>
                      <a:r>
                        <a:t>2.47x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A1A2E"/>
                          </a:solidFill>
                        </a:defRPr>
                      </a:pPr>
                      <a:r>
                        <a:t>40.5%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A1A2E"/>
                          </a:solidFill>
                        </a:defRPr>
                      </a:pPr>
                      <a:r>
                        <a:t>12.9%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800">
                          <a:solidFill>
                            <a:srgbClr val="1A1A2E"/>
                          </a:solidFill>
                        </a:defRPr>
                      </a:pPr>
                      <a:r>
                        <a:t>Q4</a:t>
                      </a:r>
                    </a:p>
                  </a:txBody>
                  <a:tcPr>
                    <a:solidFill>
                      <a:srgbClr val="F1F3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A1A2E"/>
                          </a:solidFill>
                        </a:defRPr>
                      </a:pPr>
                      <a:r>
                        <a:t>$692,870</a:t>
                      </a:r>
                    </a:p>
                  </a:txBody>
                  <a:tcPr>
                    <a:solidFill>
                      <a:srgbClr val="F1F3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A1A2E"/>
                          </a:solidFill>
                        </a:defRPr>
                      </a:pPr>
                      <a:r>
                        <a:t>11,431</a:t>
                      </a:r>
                    </a:p>
                  </a:txBody>
                  <a:tcPr>
                    <a:solidFill>
                      <a:srgbClr val="F1F3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A1A2E"/>
                          </a:solidFill>
                        </a:defRPr>
                      </a:pPr>
                      <a:r>
                        <a:t>$101,210</a:t>
                      </a:r>
                    </a:p>
                  </a:txBody>
                  <a:tcPr>
                    <a:solidFill>
                      <a:srgbClr val="F1F3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A1A2E"/>
                          </a:solidFill>
                        </a:defRPr>
                      </a:pPr>
                      <a:r>
                        <a:t>$220,896</a:t>
                      </a:r>
                    </a:p>
                  </a:txBody>
                  <a:tcPr>
                    <a:solidFill>
                      <a:srgbClr val="F1F3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A1A2E"/>
                          </a:solidFill>
                        </a:defRPr>
                      </a:pPr>
                      <a:r>
                        <a:t>$471,974</a:t>
                      </a:r>
                    </a:p>
                  </a:txBody>
                  <a:tcPr>
                    <a:solidFill>
                      <a:srgbClr val="F1F3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A1A2E"/>
                          </a:solidFill>
                        </a:defRPr>
                      </a:pPr>
                      <a:r>
                        <a:t>2.18x</a:t>
                      </a:r>
                    </a:p>
                  </a:txBody>
                  <a:tcPr>
                    <a:solidFill>
                      <a:srgbClr val="F1F3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A1A2E"/>
                          </a:solidFill>
                        </a:defRPr>
                      </a:pPr>
                      <a:r>
                        <a:t>45.8%</a:t>
                      </a:r>
                    </a:p>
                  </a:txBody>
                  <a:tcPr>
                    <a:solidFill>
                      <a:srgbClr val="F1F3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A1A2E"/>
                          </a:solidFill>
                        </a:defRPr>
                      </a:pPr>
                      <a:r>
                        <a:t>14.6%</a:t>
                      </a:r>
                    </a:p>
                  </a:txBody>
                  <a:tcPr>
                    <a:solidFill>
                      <a:srgbClr val="F1F3F5"/>
                    </a:solidFill>
                  </a:tcPr>
                </a:tc>
              </a:tr>
            </a:tbl>
          </a:graphicData>
        </a:graphic>
      </p:graphicFrame>
      <p:pic>
        <p:nvPicPr>
          <p:cNvPr id="6" name="Picture 5" descr="quarterl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2926080"/>
            <a:ext cx="8229600" cy="237744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548640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FF9900"/>
                </a:solidFill>
              </a:rPr>
              <a:t>Takeaways:</a:t>
            </a:r>
          </a:p>
          <a:p>
            <a:pPr>
              <a:spcBef>
                <a:spcPts val="200"/>
              </a:spcBef>
            </a:pPr>
            <a:r>
              <a:rPr sz="900">
                <a:solidFill>
                  <a:srgbClr val="4A4A5A"/>
                </a:solidFill>
              </a:rPr>
              <a:t>• Q1 strongest at $880,958 with 2.40x ROAS</a:t>
            </a:r>
          </a:p>
          <a:p>
            <a:pPr>
              <a:spcBef>
                <a:spcPts val="200"/>
              </a:spcBef>
            </a:pPr>
            <a:r>
              <a:rPr sz="900">
                <a:solidFill>
                  <a:srgbClr val="4A4A5A"/>
                </a:solidFill>
              </a:rPr>
              <a:t>• Revenue declined 21.4% Q1→Q4 — seasonal demand pattern</a:t>
            </a:r>
          </a:p>
          <a:p>
            <a:pPr>
              <a:spcBef>
                <a:spcPts val="200"/>
              </a:spcBef>
            </a:pPr>
            <a:r>
              <a:rPr sz="900">
                <a:solidFill>
                  <a:srgbClr val="4A4A5A"/>
                </a:solidFill>
              </a:rPr>
              <a:t>• ROAS: Q1 2.40x → Q4 2.18x</a:t>
            </a:r>
          </a:p>
          <a:p>
            <a:pPr>
              <a:spcBef>
                <a:spcPts val="200"/>
              </a:spcBef>
            </a:pPr>
            <a:r>
              <a:rPr sz="900">
                <a:solidFill>
                  <a:srgbClr val="4A4A5A"/>
                </a:solidFill>
              </a:rPr>
              <a:t>• Sessions dropped ~40% Q1→Q4 — primary driver of revenue decline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82296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FF9900"/>
                </a:solidFill>
              </a:defRPr>
            </a:pPr>
            <a:r>
              <a:t>2025 BRAND DEEP DIVE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5720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A1A2E"/>
                </a:solidFill>
              </a:defRPr>
            </a:pPr>
            <a:r>
              <a:t>Prosvent — Full Year Performance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005840"/>
          <a:ext cx="4114800" cy="3474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/>
                <a:gridCol w="1371600"/>
                <a:gridCol w="1371600"/>
              </a:tblGrid>
              <a:tr h="347472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Metric</a:t>
                      </a:r>
                    </a:p>
                  </a:txBody>
                  <a:tcPr>
                    <a:solidFill>
                      <a:srgbClr val="232F3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Value</a:t>
                      </a:r>
                    </a:p>
                  </a:txBody>
                  <a:tcPr>
                    <a:solidFill>
                      <a:srgbClr val="232F3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Detail</a:t>
                      </a:r>
                    </a:p>
                  </a:txBody>
                  <a:tcPr>
                    <a:solidFill>
                      <a:srgbClr val="232F3E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>
                        <a:defRPr sz="800">
                          <a:solidFill>
                            <a:srgbClr val="1A1A2E"/>
                          </a:solidFill>
                        </a:defRPr>
                      </a:pPr>
                      <a:r>
                        <a:t>Total Revenue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A1A2E"/>
                          </a:solidFill>
                        </a:defRPr>
                      </a:pPr>
                      <a:r>
                        <a:t>$1,777,284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A1A2E"/>
                          </a:solidFill>
                        </a:defRPr>
                      </a:pPr>
                      <a:r>
                        <a:t>55.7% of portfolio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>
                        <a:defRPr sz="800">
                          <a:solidFill>
                            <a:srgbClr val="1A1A2E"/>
                          </a:solidFill>
                        </a:defRPr>
                      </a:pPr>
                      <a:r>
                        <a:t>Units Sold</a:t>
                      </a:r>
                    </a:p>
                  </a:txBody>
                  <a:tcPr>
                    <a:solidFill>
                      <a:srgbClr val="F1F3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A1A2E"/>
                          </a:solidFill>
                        </a:defRPr>
                      </a:pPr>
                      <a:r>
                        <a:t>29,956</a:t>
                      </a:r>
                    </a:p>
                  </a:txBody>
                  <a:tcPr>
                    <a:solidFill>
                      <a:srgbClr val="F1F3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A1A2E"/>
                          </a:solidFill>
                        </a:defRPr>
                      </a:pPr>
                      <a:r>
                        <a:t>27,206 orders</a:t>
                      </a:r>
                    </a:p>
                  </a:txBody>
                  <a:tcPr>
                    <a:solidFill>
                      <a:srgbClr val="F1F3F5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>
                        <a:defRPr sz="800">
                          <a:solidFill>
                            <a:srgbClr val="1A1A2E"/>
                          </a:solidFill>
                        </a:defRPr>
                      </a:pPr>
                      <a:r>
                        <a:t>Avg Selling Price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A1A2E"/>
                          </a:solidFill>
                        </a:defRPr>
                      </a:pPr>
                      <a:r>
                        <a:t>$59.33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A1A2E"/>
                          </a:solidFill>
                        </a:defRPr>
                      </a:pP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>
                        <a:defRPr sz="800">
                          <a:solidFill>
                            <a:srgbClr val="1A1A2E"/>
                          </a:solidFill>
                        </a:defRPr>
                      </a:pPr>
                      <a:r>
                        <a:t>Ad Spend</a:t>
                      </a:r>
                    </a:p>
                  </a:txBody>
                  <a:tcPr>
                    <a:solidFill>
                      <a:srgbClr val="F1F3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A1A2E"/>
                          </a:solidFill>
                        </a:defRPr>
                      </a:pPr>
                      <a:r>
                        <a:t>$244,591</a:t>
                      </a:r>
                    </a:p>
                  </a:txBody>
                  <a:tcPr>
                    <a:solidFill>
                      <a:srgbClr val="F1F3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A1A2E"/>
                          </a:solidFill>
                        </a:defRPr>
                      </a:pPr>
                      <a:r>
                        <a:t>TACoS: 13.8%</a:t>
                      </a:r>
                    </a:p>
                  </a:txBody>
                  <a:tcPr>
                    <a:solidFill>
                      <a:srgbClr val="F1F3F5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>
                        <a:defRPr sz="800">
                          <a:solidFill>
                            <a:srgbClr val="1A1A2E"/>
                          </a:solidFill>
                        </a:defRPr>
                      </a:pPr>
                      <a:r>
                        <a:t>Ad Revenue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A1A2E"/>
                          </a:solidFill>
                        </a:defRPr>
                      </a:pPr>
                      <a:r>
                        <a:t>$565,908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A1A2E"/>
                          </a:solidFill>
                        </a:defRPr>
                      </a:pPr>
                      <a:r>
                        <a:t>31.8% of revenue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>
                        <a:defRPr sz="800">
                          <a:solidFill>
                            <a:srgbClr val="1A1A2E"/>
                          </a:solidFill>
                        </a:defRPr>
                      </a:pPr>
                      <a:r>
                        <a:t>Organic Revenue</a:t>
                      </a:r>
                    </a:p>
                  </a:txBody>
                  <a:tcPr>
                    <a:solidFill>
                      <a:srgbClr val="F1F3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A1A2E"/>
                          </a:solidFill>
                        </a:defRPr>
                      </a:pPr>
                      <a:r>
                        <a:t>$1,211,376</a:t>
                      </a:r>
                    </a:p>
                  </a:txBody>
                  <a:tcPr>
                    <a:solidFill>
                      <a:srgbClr val="F1F3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A1A2E"/>
                          </a:solidFill>
                        </a:defRPr>
                      </a:pPr>
                      <a:r>
                        <a:t>68.2% of revenue</a:t>
                      </a:r>
                    </a:p>
                  </a:txBody>
                  <a:tcPr>
                    <a:solidFill>
                      <a:srgbClr val="F1F3F5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>
                        <a:defRPr sz="800">
                          <a:solidFill>
                            <a:srgbClr val="1A1A2E"/>
                          </a:solidFill>
                        </a:defRPr>
                      </a:pPr>
                      <a:r>
                        <a:t>ROAS / ACoS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A1A2E"/>
                          </a:solidFill>
                        </a:defRPr>
                      </a:pPr>
                      <a:r>
                        <a:t>2.31x / 43.2%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A1A2E"/>
                          </a:solidFill>
                        </a:defRPr>
                      </a:pP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>
                        <a:defRPr sz="800">
                          <a:solidFill>
                            <a:srgbClr val="1A1A2E"/>
                          </a:solidFill>
                        </a:defRPr>
                      </a:pPr>
                      <a:r>
                        <a:t>Sessions / Conv</a:t>
                      </a:r>
                    </a:p>
                  </a:txBody>
                  <a:tcPr>
                    <a:solidFill>
                      <a:srgbClr val="F1F3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A1A2E"/>
                          </a:solidFill>
                        </a:defRPr>
                      </a:pPr>
                      <a:r>
                        <a:t>108,087 / 25.2%</a:t>
                      </a:r>
                    </a:p>
                  </a:txBody>
                  <a:tcPr>
                    <a:solidFill>
                      <a:srgbClr val="F1F3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A1A2E"/>
                          </a:solidFill>
                        </a:defRPr>
                      </a:pPr>
                    </a:p>
                  </a:txBody>
                  <a:tcPr>
                    <a:solidFill>
                      <a:srgbClr val="F1F3F5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>
                        <a:defRPr sz="800">
                          <a:solidFill>
                            <a:srgbClr val="1A1A2E"/>
                          </a:solidFill>
                        </a:defRPr>
                      </a:pPr>
                      <a:r>
                        <a:t>Impressions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A1A2E"/>
                          </a:solidFill>
                        </a:defRPr>
                      </a:pPr>
                      <a:r>
                        <a:t>21,013,243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A1A2E"/>
                          </a:solidFill>
                        </a:defRPr>
                      </a:pPr>
                      <a:r>
                        <a:t>55 active weeks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pic>
        <p:nvPicPr>
          <p:cNvPr id="6" name="Picture 5" descr="brand_Prosv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63440" y="914400"/>
            <a:ext cx="4206240" cy="347472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484632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FF9900"/>
                </a:solidFill>
              </a:rPr>
              <a:t>Takeaways:</a:t>
            </a:r>
          </a:p>
          <a:p>
            <a:pPr>
              <a:spcBef>
                <a:spcPts val="200"/>
              </a:spcBef>
            </a:pPr>
            <a:r>
              <a:rPr sz="900">
                <a:solidFill>
                  <a:srgbClr val="4A4A5A"/>
                </a:solidFill>
              </a:rPr>
              <a:t>• Portfolio anchor — largest revenue and ad spend contributor</a:t>
            </a:r>
          </a:p>
          <a:p>
            <a:pPr>
              <a:spcBef>
                <a:spcPts val="200"/>
              </a:spcBef>
            </a:pPr>
            <a:r>
              <a:rPr sz="900">
                <a:solidFill>
                  <a:srgbClr val="4A4A5A"/>
                </a:solidFill>
              </a:rPr>
              <a:t>• Strong organic base (68%) signals established loyalty and repeat buyers</a:t>
            </a:r>
          </a:p>
          <a:p>
            <a:pPr>
              <a:spcBef>
                <a:spcPts val="200"/>
              </a:spcBef>
            </a:pPr>
            <a:r>
              <a:rPr sz="900">
                <a:solidFill>
                  <a:srgbClr val="4A4A5A"/>
                </a:solidFill>
              </a:rPr>
              <a:t>• ROAS of 2.31x at $245K spend proves scalability — room to push further</a:t>
            </a:r>
          </a:p>
          <a:p>
            <a:pPr>
              <a:spcBef>
                <a:spcPts val="200"/>
              </a:spcBef>
            </a:pPr>
            <a:r>
              <a:rPr sz="900">
                <a:solidFill>
                  <a:srgbClr val="4A4A5A"/>
                </a:solidFill>
              </a:rPr>
              <a:t>• Recommend: test incremental 10-15% budget increases while monitoring ACoS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82296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FF9900"/>
                </a:solidFill>
              </a:defRPr>
            </a:pPr>
            <a:r>
              <a:t>2025 BRAND DEEP DIVE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5720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A1A2E"/>
                </a:solidFill>
              </a:defRPr>
            </a:pPr>
            <a:r>
              <a:t>Better Bladder — Full Year Performance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005840"/>
          <a:ext cx="4114800" cy="3474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/>
                <a:gridCol w="1371600"/>
                <a:gridCol w="1371600"/>
              </a:tblGrid>
              <a:tr h="347472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Metric</a:t>
                      </a:r>
                    </a:p>
                  </a:txBody>
                  <a:tcPr>
                    <a:solidFill>
                      <a:srgbClr val="232F3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Value</a:t>
                      </a:r>
                    </a:p>
                  </a:txBody>
                  <a:tcPr>
                    <a:solidFill>
                      <a:srgbClr val="232F3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Detail</a:t>
                      </a:r>
                    </a:p>
                  </a:txBody>
                  <a:tcPr>
                    <a:solidFill>
                      <a:srgbClr val="232F3E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>
                        <a:defRPr sz="800">
                          <a:solidFill>
                            <a:srgbClr val="1A1A2E"/>
                          </a:solidFill>
                        </a:defRPr>
                      </a:pPr>
                      <a:r>
                        <a:t>Total Revenue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A1A2E"/>
                          </a:solidFill>
                        </a:defRPr>
                      </a:pPr>
                      <a:r>
                        <a:t>$658,094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A1A2E"/>
                          </a:solidFill>
                        </a:defRPr>
                      </a:pPr>
                      <a:r>
                        <a:t>20.6% of portfolio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>
                        <a:defRPr sz="800">
                          <a:solidFill>
                            <a:srgbClr val="1A1A2E"/>
                          </a:solidFill>
                        </a:defRPr>
                      </a:pPr>
                      <a:r>
                        <a:t>Units Sold</a:t>
                      </a:r>
                    </a:p>
                  </a:txBody>
                  <a:tcPr>
                    <a:solidFill>
                      <a:srgbClr val="F1F3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A1A2E"/>
                          </a:solidFill>
                        </a:defRPr>
                      </a:pPr>
                      <a:r>
                        <a:t>9,956</a:t>
                      </a:r>
                    </a:p>
                  </a:txBody>
                  <a:tcPr>
                    <a:solidFill>
                      <a:srgbClr val="F1F3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A1A2E"/>
                          </a:solidFill>
                        </a:defRPr>
                      </a:pPr>
                      <a:r>
                        <a:t>9,272 orders</a:t>
                      </a:r>
                    </a:p>
                  </a:txBody>
                  <a:tcPr>
                    <a:solidFill>
                      <a:srgbClr val="F1F3F5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>
                        <a:defRPr sz="800">
                          <a:solidFill>
                            <a:srgbClr val="1A1A2E"/>
                          </a:solidFill>
                        </a:defRPr>
                      </a:pPr>
                      <a:r>
                        <a:t>Avg Selling Price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A1A2E"/>
                          </a:solidFill>
                        </a:defRPr>
                      </a:pPr>
                      <a:r>
                        <a:t>$66.10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A1A2E"/>
                          </a:solidFill>
                        </a:defRPr>
                      </a:pP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>
                        <a:defRPr sz="800">
                          <a:solidFill>
                            <a:srgbClr val="1A1A2E"/>
                          </a:solidFill>
                        </a:defRPr>
                      </a:pPr>
                      <a:r>
                        <a:t>Ad Spend</a:t>
                      </a:r>
                    </a:p>
                  </a:txBody>
                  <a:tcPr>
                    <a:solidFill>
                      <a:srgbClr val="F1F3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A1A2E"/>
                          </a:solidFill>
                        </a:defRPr>
                      </a:pPr>
                      <a:r>
                        <a:t>$80,854</a:t>
                      </a:r>
                    </a:p>
                  </a:txBody>
                  <a:tcPr>
                    <a:solidFill>
                      <a:srgbClr val="F1F3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A1A2E"/>
                          </a:solidFill>
                        </a:defRPr>
                      </a:pPr>
                      <a:r>
                        <a:t>TACoS: 12.3%</a:t>
                      </a:r>
                    </a:p>
                  </a:txBody>
                  <a:tcPr>
                    <a:solidFill>
                      <a:srgbClr val="F1F3F5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>
                        <a:defRPr sz="800">
                          <a:solidFill>
                            <a:srgbClr val="1A1A2E"/>
                          </a:solidFill>
                        </a:defRPr>
                      </a:pPr>
                      <a:r>
                        <a:t>Ad Revenue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A1A2E"/>
                          </a:solidFill>
                        </a:defRPr>
                      </a:pPr>
                      <a:r>
                        <a:t>$200,815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A1A2E"/>
                          </a:solidFill>
                        </a:defRPr>
                      </a:pPr>
                      <a:r>
                        <a:t>30.5% of revenue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>
                        <a:defRPr sz="800">
                          <a:solidFill>
                            <a:srgbClr val="1A1A2E"/>
                          </a:solidFill>
                        </a:defRPr>
                      </a:pPr>
                      <a:r>
                        <a:t>Organic Revenue</a:t>
                      </a:r>
                    </a:p>
                  </a:txBody>
                  <a:tcPr>
                    <a:solidFill>
                      <a:srgbClr val="F1F3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A1A2E"/>
                          </a:solidFill>
                        </a:defRPr>
                      </a:pPr>
                      <a:r>
                        <a:t>$457,279</a:t>
                      </a:r>
                    </a:p>
                  </a:txBody>
                  <a:tcPr>
                    <a:solidFill>
                      <a:srgbClr val="F1F3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A1A2E"/>
                          </a:solidFill>
                        </a:defRPr>
                      </a:pPr>
                      <a:r>
                        <a:t>69.5% of revenue</a:t>
                      </a:r>
                    </a:p>
                  </a:txBody>
                  <a:tcPr>
                    <a:solidFill>
                      <a:srgbClr val="F1F3F5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>
                        <a:defRPr sz="800">
                          <a:solidFill>
                            <a:srgbClr val="1A1A2E"/>
                          </a:solidFill>
                        </a:defRPr>
                      </a:pPr>
                      <a:r>
                        <a:t>ROAS / ACoS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A1A2E"/>
                          </a:solidFill>
                        </a:defRPr>
                      </a:pPr>
                      <a:r>
                        <a:t>2.48x / 40.3%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A1A2E"/>
                          </a:solidFill>
                        </a:defRPr>
                      </a:pP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>
                        <a:defRPr sz="800">
                          <a:solidFill>
                            <a:srgbClr val="1A1A2E"/>
                          </a:solidFill>
                        </a:defRPr>
                      </a:pPr>
                      <a:r>
                        <a:t>Sessions / Conv</a:t>
                      </a:r>
                    </a:p>
                  </a:txBody>
                  <a:tcPr>
                    <a:solidFill>
                      <a:srgbClr val="F1F3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A1A2E"/>
                          </a:solidFill>
                        </a:defRPr>
                      </a:pPr>
                      <a:r>
                        <a:t>65,052 / 14.3%</a:t>
                      </a:r>
                    </a:p>
                  </a:txBody>
                  <a:tcPr>
                    <a:solidFill>
                      <a:srgbClr val="F1F3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A1A2E"/>
                          </a:solidFill>
                        </a:defRPr>
                      </a:pPr>
                    </a:p>
                  </a:txBody>
                  <a:tcPr>
                    <a:solidFill>
                      <a:srgbClr val="F1F3F5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>
                        <a:defRPr sz="800">
                          <a:solidFill>
                            <a:srgbClr val="1A1A2E"/>
                          </a:solidFill>
                        </a:defRPr>
                      </a:pPr>
                      <a:r>
                        <a:t>Impressions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A1A2E"/>
                          </a:solidFill>
                        </a:defRPr>
                      </a:pPr>
                      <a:r>
                        <a:t>7,652,320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A1A2E"/>
                          </a:solidFill>
                        </a:defRPr>
                      </a:pPr>
                      <a:r>
                        <a:t>55 active weeks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pic>
        <p:nvPicPr>
          <p:cNvPr id="6" name="Picture 5" descr="brand_Better Bladd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63440" y="914400"/>
            <a:ext cx="4206240" cy="347472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484632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FF9900"/>
                </a:solidFill>
              </a:rPr>
              <a:t>Takeaways:</a:t>
            </a:r>
          </a:p>
          <a:p>
            <a:pPr>
              <a:spcBef>
                <a:spcPts val="200"/>
              </a:spcBef>
            </a:pPr>
            <a:r>
              <a:rPr sz="900">
                <a:solidFill>
                  <a:srgbClr val="4A4A5A"/>
                </a:solidFill>
              </a:rPr>
              <a:t>• #2 revenue brand with best ROAS of 2.48x among top spenders</a:t>
            </a:r>
          </a:p>
          <a:p>
            <a:pPr>
              <a:spcBef>
                <a:spcPts val="200"/>
              </a:spcBef>
            </a:pPr>
            <a:r>
              <a:rPr sz="900">
                <a:solidFill>
                  <a:srgbClr val="4A4A5A"/>
                </a:solidFill>
              </a:rPr>
              <a:t>• 70% organic revenue shows strong product-market fit</a:t>
            </a:r>
          </a:p>
          <a:p>
            <a:pPr>
              <a:spcBef>
                <a:spcPts val="200"/>
              </a:spcBef>
            </a:pPr>
            <a:r>
              <a:rPr sz="900">
                <a:solidFill>
                  <a:srgbClr val="4A4A5A"/>
                </a:solidFill>
              </a:rPr>
              <a:t>• Efficient ad engine — $81K spend generating $201K ad revenue</a:t>
            </a:r>
          </a:p>
          <a:p>
            <a:pPr>
              <a:spcBef>
                <a:spcPts val="200"/>
              </a:spcBef>
            </a:pPr>
            <a:r>
              <a:rPr sz="900">
                <a:solidFill>
                  <a:srgbClr val="4A4A5A"/>
                </a:solidFill>
              </a:rPr>
              <a:t>• Recommend: increase budget to capture more non-brand category traffic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82296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FF9900"/>
                </a:solidFill>
              </a:defRPr>
            </a:pPr>
            <a:r>
              <a:t>2025 BRAND DEEP DIVE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5720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A1A2E"/>
                </a:solidFill>
              </a:defRPr>
            </a:pPr>
            <a:r>
              <a:t>Ideal Prostate — Full Year Performance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005840"/>
          <a:ext cx="4114800" cy="3474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/>
                <a:gridCol w="1371600"/>
                <a:gridCol w="1371600"/>
              </a:tblGrid>
              <a:tr h="347472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Metric</a:t>
                      </a:r>
                    </a:p>
                  </a:txBody>
                  <a:tcPr>
                    <a:solidFill>
                      <a:srgbClr val="232F3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Value</a:t>
                      </a:r>
                    </a:p>
                  </a:txBody>
                  <a:tcPr>
                    <a:solidFill>
                      <a:srgbClr val="232F3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Detail</a:t>
                      </a:r>
                    </a:p>
                  </a:txBody>
                  <a:tcPr>
                    <a:solidFill>
                      <a:srgbClr val="232F3E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>
                        <a:defRPr sz="800">
                          <a:solidFill>
                            <a:srgbClr val="1A1A2E"/>
                          </a:solidFill>
                        </a:defRPr>
                      </a:pPr>
                      <a:r>
                        <a:t>Total Revenue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A1A2E"/>
                          </a:solidFill>
                        </a:defRPr>
                      </a:pPr>
                      <a:r>
                        <a:t>$600,771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A1A2E"/>
                          </a:solidFill>
                        </a:defRPr>
                      </a:pPr>
                      <a:r>
                        <a:t>18.8% of portfolio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>
                        <a:defRPr sz="800">
                          <a:solidFill>
                            <a:srgbClr val="1A1A2E"/>
                          </a:solidFill>
                        </a:defRPr>
                      </a:pPr>
                      <a:r>
                        <a:t>Units Sold</a:t>
                      </a:r>
                    </a:p>
                  </a:txBody>
                  <a:tcPr>
                    <a:solidFill>
                      <a:srgbClr val="F1F3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A1A2E"/>
                          </a:solidFill>
                        </a:defRPr>
                      </a:pPr>
                      <a:r>
                        <a:t>9,369</a:t>
                      </a:r>
                    </a:p>
                  </a:txBody>
                  <a:tcPr>
                    <a:solidFill>
                      <a:srgbClr val="F1F3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A1A2E"/>
                          </a:solidFill>
                        </a:defRPr>
                      </a:pPr>
                      <a:r>
                        <a:t>8,405 orders</a:t>
                      </a:r>
                    </a:p>
                  </a:txBody>
                  <a:tcPr>
                    <a:solidFill>
                      <a:srgbClr val="F1F3F5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>
                        <a:defRPr sz="800">
                          <a:solidFill>
                            <a:srgbClr val="1A1A2E"/>
                          </a:solidFill>
                        </a:defRPr>
                      </a:pPr>
                      <a:r>
                        <a:t>Avg Selling Price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A1A2E"/>
                          </a:solidFill>
                        </a:defRPr>
                      </a:pPr>
                      <a:r>
                        <a:t>$64.12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A1A2E"/>
                          </a:solidFill>
                        </a:defRPr>
                      </a:pP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>
                        <a:defRPr sz="800">
                          <a:solidFill>
                            <a:srgbClr val="1A1A2E"/>
                          </a:solidFill>
                        </a:defRPr>
                      </a:pPr>
                      <a:r>
                        <a:t>Ad Spend</a:t>
                      </a:r>
                    </a:p>
                  </a:txBody>
                  <a:tcPr>
                    <a:solidFill>
                      <a:srgbClr val="F1F3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A1A2E"/>
                          </a:solidFill>
                        </a:defRPr>
                      </a:pPr>
                      <a:r>
                        <a:t>$80,198</a:t>
                      </a:r>
                    </a:p>
                  </a:txBody>
                  <a:tcPr>
                    <a:solidFill>
                      <a:srgbClr val="F1F3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A1A2E"/>
                          </a:solidFill>
                        </a:defRPr>
                      </a:pPr>
                      <a:r>
                        <a:t>TACoS: 13.3%</a:t>
                      </a:r>
                    </a:p>
                  </a:txBody>
                  <a:tcPr>
                    <a:solidFill>
                      <a:srgbClr val="F1F3F5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>
                        <a:defRPr sz="800">
                          <a:solidFill>
                            <a:srgbClr val="1A1A2E"/>
                          </a:solidFill>
                        </a:defRPr>
                      </a:pPr>
                      <a:r>
                        <a:t>Ad Revenue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A1A2E"/>
                          </a:solidFill>
                        </a:defRPr>
                      </a:pPr>
                      <a:r>
                        <a:t>$192,396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A1A2E"/>
                          </a:solidFill>
                        </a:defRPr>
                      </a:pPr>
                      <a:r>
                        <a:t>32.0% of revenue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>
                        <a:defRPr sz="800">
                          <a:solidFill>
                            <a:srgbClr val="1A1A2E"/>
                          </a:solidFill>
                        </a:defRPr>
                      </a:pPr>
                      <a:r>
                        <a:t>Organic Revenue</a:t>
                      </a:r>
                    </a:p>
                  </a:txBody>
                  <a:tcPr>
                    <a:solidFill>
                      <a:srgbClr val="F1F3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A1A2E"/>
                          </a:solidFill>
                        </a:defRPr>
                      </a:pPr>
                      <a:r>
                        <a:t>$408,375</a:t>
                      </a:r>
                    </a:p>
                  </a:txBody>
                  <a:tcPr>
                    <a:solidFill>
                      <a:srgbClr val="F1F3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A1A2E"/>
                          </a:solidFill>
                        </a:defRPr>
                      </a:pPr>
                      <a:r>
                        <a:t>68.0% of revenue</a:t>
                      </a:r>
                    </a:p>
                  </a:txBody>
                  <a:tcPr>
                    <a:solidFill>
                      <a:srgbClr val="F1F3F5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>
                        <a:defRPr sz="800">
                          <a:solidFill>
                            <a:srgbClr val="1A1A2E"/>
                          </a:solidFill>
                        </a:defRPr>
                      </a:pPr>
                      <a:r>
                        <a:t>ROAS / ACoS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A1A2E"/>
                          </a:solidFill>
                        </a:defRPr>
                      </a:pPr>
                      <a:r>
                        <a:t>2.40x / 41.7%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A1A2E"/>
                          </a:solidFill>
                        </a:defRPr>
                      </a:pP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>
                        <a:defRPr sz="800">
                          <a:solidFill>
                            <a:srgbClr val="1A1A2E"/>
                          </a:solidFill>
                        </a:defRPr>
                      </a:pPr>
                      <a:r>
                        <a:t>Sessions / Conv</a:t>
                      </a:r>
                    </a:p>
                  </a:txBody>
                  <a:tcPr>
                    <a:solidFill>
                      <a:srgbClr val="F1F3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A1A2E"/>
                          </a:solidFill>
                        </a:defRPr>
                      </a:pPr>
                      <a:r>
                        <a:t>40,903 / 20.5%</a:t>
                      </a:r>
                    </a:p>
                  </a:txBody>
                  <a:tcPr>
                    <a:solidFill>
                      <a:srgbClr val="F1F3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A1A2E"/>
                          </a:solidFill>
                        </a:defRPr>
                      </a:pPr>
                    </a:p>
                  </a:txBody>
                  <a:tcPr>
                    <a:solidFill>
                      <a:srgbClr val="F1F3F5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>
                        <a:defRPr sz="800">
                          <a:solidFill>
                            <a:srgbClr val="1A1A2E"/>
                          </a:solidFill>
                        </a:defRPr>
                      </a:pPr>
                      <a:r>
                        <a:t>Impressions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A1A2E"/>
                          </a:solidFill>
                        </a:defRPr>
                      </a:pPr>
                      <a:r>
                        <a:t>11,245,716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A1A2E"/>
                          </a:solidFill>
                        </a:defRPr>
                      </a:pPr>
                      <a:r>
                        <a:t>55 active weeks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pic>
        <p:nvPicPr>
          <p:cNvPr id="6" name="Picture 5" descr="brand_Ideal Prosta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63440" y="914400"/>
            <a:ext cx="4206240" cy="347472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484632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FF9900"/>
                </a:solidFill>
              </a:rPr>
              <a:t>Takeaways:</a:t>
            </a:r>
          </a:p>
          <a:p>
            <a:pPr>
              <a:spcBef>
                <a:spcPts val="200"/>
              </a:spcBef>
            </a:pPr>
            <a:r>
              <a:rPr sz="900">
                <a:solidFill>
                  <a:srgbClr val="4A4A5A"/>
                </a:solidFill>
              </a:rPr>
              <a:t>• #3 revenue brand, closely trailing Better Bladder</a:t>
            </a:r>
          </a:p>
          <a:p>
            <a:pPr>
              <a:spcBef>
                <a:spcPts val="200"/>
              </a:spcBef>
            </a:pPr>
            <a:r>
              <a:rPr sz="900">
                <a:solidFill>
                  <a:srgbClr val="4A4A5A"/>
                </a:solidFill>
              </a:rPr>
              <a:t>• ROAS of 2.40x at $80K spend — efficient and scalable</a:t>
            </a:r>
          </a:p>
          <a:p>
            <a:pPr>
              <a:spcBef>
                <a:spcPts val="200"/>
              </a:spcBef>
            </a:pPr>
            <a:r>
              <a:rPr sz="900">
                <a:solidFill>
                  <a:srgbClr val="4A4A5A"/>
                </a:solidFill>
              </a:rPr>
              <a:t>• Category overlap with Prosvent creates cross-sell opportunities</a:t>
            </a:r>
          </a:p>
          <a:p>
            <a:pPr>
              <a:spcBef>
                <a:spcPts val="200"/>
              </a:spcBef>
            </a:pPr>
            <a:r>
              <a:rPr sz="900">
                <a:solidFill>
                  <a:srgbClr val="4A4A5A"/>
                </a:solidFill>
              </a:rPr>
              <a:t>• Recommend: leverage Prosvent audience data for targeted campaigns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82296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FF9900"/>
                </a:solidFill>
              </a:defRPr>
            </a:pPr>
            <a:r>
              <a:t>2025 FULL YEAR PERFORMANCE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5720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A1A2E"/>
                </a:solidFill>
              </a:defRPr>
            </a:pPr>
            <a:r>
              <a:t>2026 Strategic Recommendations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005840"/>
            <a:ext cx="7772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FF9900"/>
                </a:solidFill>
              </a:rPr>
              <a:t>▸ Scale Prosvent &amp; High-ROAS Brands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252728"/>
            <a:ext cx="7498079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>
                <a:solidFill>
                  <a:srgbClr val="4A4A5A"/>
                </a:solidFill>
              </a:rPr>
              <a:t>Prosvent ($1,777,284 at 2.3x ROAS) and Grown American (3.1x) have proven efficiency. Increase budgets 10-20% in Q1 2026 while monitoring ACoS.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828800"/>
            <a:ext cx="7772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FF9900"/>
                </a:solidFill>
              </a:rPr>
              <a:t>▸ Address Year-over-Year Revenue Decline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075688"/>
            <a:ext cx="7498079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>
                <a:solidFill>
                  <a:srgbClr val="4A4A5A"/>
                </a:solidFill>
              </a:rPr>
              <a:t>Revenue declined 21.4% Q1→Q4. Analyze seasonal vs competitive factors. Counter with seasonal promotions, Lightning Deals, and increased spend during slow periods.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651760"/>
            <a:ext cx="7772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FF9900"/>
                </a:solidFill>
              </a:rPr>
              <a:t>▸ Optimize Low-ROAS Campaigns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898648"/>
            <a:ext cx="7498079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>
                <a:solidFill>
                  <a:srgbClr val="4A4A5A"/>
                </a:solidFill>
              </a:rPr>
              <a:t>Profemin (0.88x ROAS) needs campaign-level review. Audit search terms, refine keyword targeting, pause non-converting campaigns.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3474720"/>
            <a:ext cx="7772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FF9900"/>
                </a:solidFill>
              </a:rPr>
              <a:t>▸ Strengthen Organic Revenue Base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3721608"/>
            <a:ext cx="7498079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>
                <a:solidFill>
                  <a:srgbClr val="4A4A5A"/>
                </a:solidFill>
              </a:rPr>
              <a:t>Organic revenue (68.9%) is a competitive advantage. Invest in A+ Content, listing optimization, review generation, and Subscribe &amp; Save.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4297680"/>
            <a:ext cx="7772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FF9900"/>
                </a:solidFill>
              </a:rPr>
              <a:t>▸ Build Brand vs Non-Brand Search Strategy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4544568"/>
            <a:ext cx="7498079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>
                <a:solidFill>
                  <a:srgbClr val="4A4A5A"/>
                </a:solidFill>
              </a:rPr>
              <a:t>Once search term data is available, separate Brand (defensive) vs Non-Brand (conquest) campaigns. This enables differentiated bidding, budget allocation, and ROAS targets.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5120640"/>
            <a:ext cx="7772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FF9900"/>
                </a:solidFill>
              </a:rPr>
              <a:t>▸ Explore New Brand Growth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5367528"/>
            <a:ext cx="7498079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>
                <a:solidFill>
                  <a:srgbClr val="4A4A5A"/>
                </a:solidFill>
              </a:rPr>
              <a:t>AromaTru and Perfect Omega are in early growth stages. Set aggressive ACoS targets, invest in awareness campaigns, and track trajectory toward organic demand.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